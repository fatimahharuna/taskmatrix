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731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TaskMatrix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E90FF"/>
                </a:solidFill>
              </a:rPr>
              <a:t>Task Prioritization Web Application
Using the Eisenhower Matrix &amp; AI Suggestions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3429000"/>
            <a:ext cx="5760720" cy="36576"/>
          </a:xfrm>
          <a:prstGeom prst="rect">
            <a:avLst/>
          </a:prstGeom>
          <a:solidFill>
            <a:srgbClr val="CC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5E0"/>
                </a:solidFill>
              </a:rPr>
              <a:t>Project Documentation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69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D700"/>
                </a:solidFill>
              </a:rPr>
              <a:t>GROUP 3  |  SEN 302 – Web Application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5E0"/>
                </a:solidFill>
              </a:rPr>
              <a:t>Fatima Bashir Haruna – 20230836     |     Muhammad Tijjani – 20231017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D5E0"/>
                </a:solidFill>
              </a:rPr>
              <a:t>Faculty of Computing  |  Department of Software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62456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325880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258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74520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837944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3794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Software Development Lifecycle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86584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2350008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000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Requirements Gathering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98648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" y="2862072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86207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System &amp; UI Design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10712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3374136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7413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Project Setup &amp; Environment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362456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7376" y="1325880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3258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Backend Development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874520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7376" y="1837944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83794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Frontend Development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386584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350008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35000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Errors &amp; Problems Encountered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898648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7376" y="2862072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Deployment Guide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3410712"/>
            <a:ext cx="320040" cy="3200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3374136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37413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Future Enhancements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  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What is TaskMatrix?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5E0"/>
                </a:solidFill>
              </a:rPr>
              <a:t>A full-stack MERN productivity app that implements the Eisenhower Matrix to help users categorize and prioritize every task.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40280"/>
            <a:ext cx="2514600" cy="7772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2768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Q1 – Do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243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Urgent + Important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2240280"/>
            <a:ext cx="2514600" cy="7772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2768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Q2 – 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6243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Not Urgent + Important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127248"/>
            <a:ext cx="2514600" cy="77724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16382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Q3 – Delegate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51129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Urgent + Not Important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71800" y="3127248"/>
            <a:ext cx="2514600" cy="777240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316382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Q4 – Eliminate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51129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Not Urgent + Not Important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132588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90FF"/>
                </a:solidFill>
              </a:rPr>
              <a:t>Problem It Solves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1728216"/>
            <a:ext cx="6126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D5E0"/>
                </a:solidFill>
              </a:rPr>
              <a:t>• Overwhelming task volumes with no clear prioritization method</a:t>
            </a:r>
          </a:p>
          <a:p>
            <a:r>
              <a:rPr sz="1400">
                <a:solidFill>
                  <a:srgbClr val="CCD5E0"/>
                </a:solidFill>
              </a:rPr>
              <a:t>• AI suggests correct quadrant based on task title &amp; notes</a:t>
            </a:r>
          </a:p>
          <a:p>
            <a:r>
              <a:rPr sz="1400">
                <a:solidFill>
                  <a:srgbClr val="CCD5E0"/>
                </a:solidFill>
              </a:rPr>
              <a:t>• Overdue tasks surfaced prominently with real notifications</a:t>
            </a:r>
          </a:p>
          <a:p>
            <a:r>
              <a:rPr sz="1400">
                <a:solidFill>
                  <a:srgbClr val="CCD5E0"/>
                </a:solidFill>
              </a:rPr>
              <a:t>• Analytics reveal personal productivity patterns</a:t>
            </a:r>
          </a:p>
          <a:p>
            <a:r>
              <a:rPr sz="1400">
                <a:solidFill>
                  <a:srgbClr val="CCD5E0"/>
                </a:solidFill>
              </a:rPr>
              <a:t>• Complete per-user data privacy &amp; isolation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6576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90FF"/>
                </a:solidFill>
              </a:rPr>
              <a:t>Target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69080"/>
            <a:ext cx="6126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D5E0"/>
                </a:solidFill>
              </a:rPr>
              <a:t>• University students managing coursework &amp; deadlines</a:t>
            </a:r>
          </a:p>
          <a:p>
            <a:r>
              <a:rPr sz="1400">
                <a:solidFill>
                  <a:srgbClr val="CCD5E0"/>
                </a:solidFill>
              </a:rPr>
              <a:t>• Individual professionals balancing personal &amp; work tasks</a:t>
            </a:r>
          </a:p>
          <a:p>
            <a:r>
              <a:rPr sz="1400">
                <a:solidFill>
                  <a:srgbClr val="CCD5E0"/>
                </a:solidFill>
              </a:rPr>
              <a:t>• Small teams collaborating without heavyweight tools (e.g. Jira)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  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Key Features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Eisenhower Board: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727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Four-quadrant drag-and-drop board; tasks snap between quadrants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7830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AI Quadrant Suggestion: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0299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Claude AI recommends the correct quadrant from task title &amp;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2402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AI Misclassification Warning: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4871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Warns user when chosen quadrant may be wrong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6974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AI Subtask Generation: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29443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Breaks complex tasks into a checklist of subtasks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1546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Team Collaboration: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4015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Invite members by email; assign roles; shared task ownership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6118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Analytics Dashboard: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38587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14-day bar chart, quadrant distribution, real activity heatmap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3258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Notifications: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5727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Real-time overdue and due-soon alerts from actual task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7830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Personal Journal: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0299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Private note-taking with search, create, edit, delete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402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Dark Mode: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4871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System-wide dark mode persisted to DB and localStorage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6974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Account Lockout: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443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5 failed logins trigger a 15-minute security lockout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1546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Trash / Recovery: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4015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Soft-deleted tasks can be restored or permanently deleted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6118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✓  CSV / PDF Export: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858768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5E0"/>
                </a:solidFill>
              </a:rPr>
              <a:t>   Export task data from the Analytics page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  Software Development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Iterative Agile-Influenced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35024"/>
            <a:ext cx="384048" cy="38404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298448"/>
            <a:ext cx="3840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737360"/>
            <a:ext cx="45720" cy="2560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984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Requirements Gathering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6276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5E0"/>
                </a:solidFill>
              </a:rPr>
              <a:t>User stories, FRs, NFRs from SRS document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002536"/>
            <a:ext cx="384048" cy="38404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965960"/>
            <a:ext cx="3840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" y="2404872"/>
            <a:ext cx="45720" cy="2560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659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System &amp; UI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951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5E0"/>
                </a:solidFill>
              </a:rPr>
              <a:t>Data model, API contract, UI layout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670048"/>
            <a:ext cx="384048" cy="38404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633472"/>
            <a:ext cx="3840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3072384"/>
            <a:ext cx="45720" cy="2560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334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Project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96265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5E0"/>
                </a:solidFill>
              </a:rPr>
              <a:t>MERN scaffold, dependencies, env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337560"/>
            <a:ext cx="384048" cy="38404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300984"/>
            <a:ext cx="3840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3739896"/>
            <a:ext cx="45720" cy="2560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3009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Backend Development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630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5E0"/>
                </a:solidFill>
              </a:rPr>
              <a:t>Express API, MongoDB, auth, AI endpoints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005072"/>
            <a:ext cx="384048" cy="38404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968496"/>
            <a:ext cx="3840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4407408"/>
            <a:ext cx="45720" cy="2560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9684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Frontend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297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5E0"/>
                </a:solidFill>
              </a:rPr>
              <a:t>React pages, context providers, components, CSS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72584"/>
            <a:ext cx="384048" cy="38404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4636008"/>
            <a:ext cx="3840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3776" y="5074920"/>
            <a:ext cx="45720" cy="2560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6360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Debugging &amp; 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9651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5E0"/>
                </a:solidFill>
              </a:rPr>
              <a:t>Resolved 14+ bugs across DB, auth, UI, data integrity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340096"/>
            <a:ext cx="384048" cy="38404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303520"/>
            <a:ext cx="3840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3035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Deployment Preparation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632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5E0"/>
                </a:solidFill>
              </a:rPr>
              <a:t>Build pipeline, Render + Vercel + MongoDB Atlas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  Requirements Gathering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Functional Requirements (Selected)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28216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CCD5E0"/>
                </a:solidFill>
              </a:rPr>
              <a:t>• FR-101: Register with email, display name, and password</a:t>
            </a:r>
          </a:p>
          <a:p>
            <a:r>
              <a:rPr sz="1250">
                <a:solidFill>
                  <a:srgbClr val="CCD5E0"/>
                </a:solidFill>
              </a:rPr>
              <a:t>• FR-102: Login returns a JWT valid for 30 days</a:t>
            </a:r>
          </a:p>
          <a:p>
            <a:r>
              <a:rPr sz="1250">
                <a:solidFill>
                  <a:srgbClr val="CCD5E0"/>
                </a:solidFill>
              </a:rPr>
              <a:t>• FR-103: Account locks 15 min after 5 failed attempts</a:t>
            </a:r>
          </a:p>
          <a:p>
            <a:r>
              <a:rPr sz="1250">
                <a:solidFill>
                  <a:srgbClr val="CCD5E0"/>
                </a:solidFill>
              </a:rPr>
              <a:t>• FR-201: Tasks have title, notes, quadrant, priority, labels, due date</a:t>
            </a:r>
          </a:p>
          <a:p>
            <a:r>
              <a:rPr sz="1250">
                <a:solidFill>
                  <a:srgbClr val="CCD5E0"/>
                </a:solidFill>
              </a:rPr>
              <a:t>• FR-202: Tasks are private per user — no cross-user data leakage</a:t>
            </a:r>
          </a:p>
          <a:p>
            <a:r>
              <a:rPr sz="1250">
                <a:solidFill>
                  <a:srgbClr val="CCD5E0"/>
                </a:solidFill>
              </a:rPr>
              <a:t>• FR-203: Tasks are draggable between quadrants</a:t>
            </a:r>
          </a:p>
          <a:p>
            <a:r>
              <a:rPr sz="1250">
                <a:solidFill>
                  <a:srgbClr val="CCD5E0"/>
                </a:solidFill>
              </a:rPr>
              <a:t>• FR-204: Deleted tasks go to Trash; can be restored or purged</a:t>
            </a:r>
          </a:p>
          <a:p>
            <a:r>
              <a:rPr sz="1250">
                <a:solidFill>
                  <a:srgbClr val="CCD5E0"/>
                </a:solidFill>
              </a:rPr>
              <a:t>• FR-301: AI suggests correct Eisenhower quadrant</a:t>
            </a:r>
          </a:p>
          <a:p>
            <a:r>
              <a:rPr sz="1250">
                <a:solidFill>
                  <a:srgbClr val="CCD5E0"/>
                </a:solidFill>
              </a:rPr>
              <a:t>• FR-302: AI generates subtask checklists</a:t>
            </a:r>
          </a:p>
          <a:p>
            <a:r>
              <a:rPr sz="1250">
                <a:solidFill>
                  <a:srgbClr val="CCD5E0"/>
                </a:solidFill>
              </a:rPr>
              <a:t>• FR-501: Analytics shows real completion rates (not generated data)</a:t>
            </a:r>
          </a:p>
          <a:p>
            <a:r>
              <a:rPr sz="1250">
                <a:solidFill>
                  <a:srgbClr val="CCD5E0"/>
                </a:solidFill>
              </a:rPr>
              <a:t>• FR-601: Team members must have a TaskMatrix account to be invited</a:t>
            </a:r>
          </a:p>
          <a:p>
            <a:r>
              <a:rPr sz="1250">
                <a:solidFill>
                  <a:srgbClr val="CCD5E0"/>
                </a:solidFill>
              </a:rPr>
              <a:t>• FR-701: Journal — create, edit, search, and delete entries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Non-Functional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28216"/>
            <a:ext cx="5669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D5E0"/>
                </a:solidFill>
              </a:rPr>
              <a:t>•  Security: Passwords hashed with bcrypt (factor 12); JWT signed</a:t>
            </a:r>
          </a:p>
          <a:p>
            <a:r>
              <a:rPr sz="1300">
                <a:solidFill>
                  <a:srgbClr val="CCD5E0"/>
                </a:solidFill>
              </a:rPr>
              <a:t>•  Privacy: All task queries filter by owner._id at DB level</a:t>
            </a:r>
          </a:p>
          <a:p>
            <a:r>
              <a:rPr sz="1300">
                <a:solidFill>
                  <a:srgbClr val="CCD5E0"/>
                </a:solidFill>
              </a:rPr>
              <a:t>•  Performance: AI responses cached in-memory (5 min TTL, 500 entries)</a:t>
            </a:r>
          </a:p>
          <a:p>
            <a:r>
              <a:rPr sz="1300">
                <a:solidFill>
                  <a:srgbClr val="CCD5E0"/>
                </a:solidFill>
              </a:rPr>
              <a:t>•  Usability: SPA navigation — no page refresh; no placeholder data</a:t>
            </a:r>
          </a:p>
          <a:p>
            <a:r>
              <a:rPr sz="1300">
                <a:solidFill>
                  <a:srgbClr val="CCD5E0"/>
                </a:solidFill>
              </a:rPr>
              <a:t>•  Accessibility: All interactive elements have keyboard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977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Post-Launch Changes (User Feedback)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38912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D5E0"/>
                </a:solidFill>
              </a:rPr>
              <a:t>• Remove free/pro subscription plan UI</a:t>
            </a:r>
          </a:p>
          <a:p>
            <a:r>
              <a:rPr sz="1300">
                <a:solidFill>
                  <a:srgbClr val="CCD5E0"/>
                </a:solidFill>
              </a:rPr>
              <a:t>• Replace 'Personal' page with full journaling module</a:t>
            </a:r>
          </a:p>
          <a:p>
            <a:r>
              <a:rPr sz="1300">
                <a:solidFill>
                  <a:srgbClr val="CCD5E0"/>
                </a:solidFill>
              </a:rPr>
              <a:t>• Remove Ctrl+K keyboard shortcut from search bar</a:t>
            </a:r>
          </a:p>
          <a:p>
            <a:r>
              <a:rPr sz="1300">
                <a:solidFill>
                  <a:srgbClr val="CCD5E0"/>
                </a:solidFill>
              </a:rPr>
              <a:t>• Prevent guest users seeing registered-account tasks</a:t>
            </a:r>
          </a:p>
          <a:p>
            <a:r>
              <a:rPr sz="1300">
                <a:solidFill>
                  <a:srgbClr val="CCD5E0"/>
                </a:solidFill>
              </a:rPr>
              <a:t>• Remove Google OAuth (credentials unavailable)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4  System &amp; UI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Three-Tier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94560" y="1371600"/>
            <a:ext cx="7772400" cy="10058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14447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Presentation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82880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React SPA (Vite)  |  Port 5173 (dev) / CDN (prod)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645920"/>
            <a:ext cx="109728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700"/>
                </a:solidFill>
              </a:rPr>
              <a:t>Vercel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2377440"/>
            <a:ext cx="182880" cy="274320"/>
          </a:xfrm>
          <a:prstGeom prst="rect">
            <a:avLst/>
          </a:prstGeom>
          <a:solidFill>
            <a:srgbClr val="CC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94560" y="2651760"/>
            <a:ext cx="7772400" cy="10058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7249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Application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10896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Node.js + Express REST API  |  Port 5000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926080"/>
            <a:ext cx="109728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90779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700"/>
                </a:solidFill>
              </a:rPr>
              <a:t>Render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3657600"/>
            <a:ext cx="182880" cy="274320"/>
          </a:xfrm>
          <a:prstGeom prst="rect">
            <a:avLst/>
          </a:prstGeom>
          <a:solidFill>
            <a:srgbClr val="CC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94560" y="3931920"/>
            <a:ext cx="7772400" cy="100584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1720" y="400507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3891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MongoDB — taskmatrix database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206240"/>
            <a:ext cx="109728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18795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700"/>
                </a:solidFill>
              </a:rPr>
              <a:t>MongoDB Atlas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09160"/>
            <a:ext cx="1188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UI Design Principles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074920"/>
            <a:ext cx="11704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CCD5E0"/>
                </a:solidFill>
              </a:rPr>
              <a:t>• Fixed 232px sidebar + scrollable content area layout</a:t>
            </a:r>
          </a:p>
          <a:p>
            <a:r>
              <a:rPr sz="1350">
                <a:solidFill>
                  <a:srgbClr val="CCD5E0"/>
                </a:solidFill>
              </a:rPr>
              <a:t>• Q1 Red #e63946  |  Q2 Teal #2a9d8f  |  Q3 Amber #e9c46a  |  Q4 Grey #adb5bd</a:t>
            </a:r>
          </a:p>
          <a:p>
            <a:r>
              <a:rPr sz="1350">
                <a:solidFill>
                  <a:srgbClr val="CCD5E0"/>
                </a:solidFill>
              </a:rPr>
              <a:t>• Dark mode persisted to DB and localStorage; full keyboard accessibility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4  System &amp; UI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Data Model &amp; API 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User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09928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D5E0"/>
                </a:solidFill>
              </a:rPr>
              <a:t>• displayName — String, required</a:t>
            </a:r>
          </a:p>
          <a:p>
            <a:r>
              <a:rPr sz="1300">
                <a:solidFill>
                  <a:srgbClr val="CCD5E0"/>
                </a:solidFill>
              </a:rPr>
              <a:t>• email — String, unique, lowercase</a:t>
            </a:r>
          </a:p>
          <a:p>
            <a:r>
              <a:rPr sz="1300">
                <a:solidFill>
                  <a:srgbClr val="CCD5E0"/>
                </a:solidFill>
              </a:rPr>
              <a:t>• password — String, select:false (never returned)</a:t>
            </a:r>
          </a:p>
          <a:p>
            <a:r>
              <a:rPr sz="1300">
                <a:solidFill>
                  <a:srgbClr val="CCD5E0"/>
                </a:solidFill>
              </a:rPr>
              <a:t>• timezone — String, auto-detected on register</a:t>
            </a:r>
          </a:p>
          <a:p>
            <a:r>
              <a:rPr sz="1300">
                <a:solidFill>
                  <a:srgbClr val="CCD5E0"/>
                </a:solidFill>
              </a:rPr>
              <a:t>• loginAttempts — Number, tracks failed logins</a:t>
            </a:r>
          </a:p>
          <a:p>
            <a:r>
              <a:rPr sz="1300">
                <a:solidFill>
                  <a:srgbClr val="CCD5E0"/>
                </a:solidFill>
              </a:rPr>
              <a:t>• lockUntil — Date, set 15 min ahead after 5 failures</a:t>
            </a:r>
          </a:p>
          <a:p>
            <a:r>
              <a:rPr sz="1300">
                <a:solidFill>
                  <a:srgbClr val="CCD5E0"/>
                </a:solidFill>
              </a:rPr>
              <a:t>• darkMode — Boolean, persisted preference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20624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Task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599432"/>
            <a:ext cx="5760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D5E0"/>
                </a:solidFill>
              </a:rPr>
              <a:t>• title, notes, quadrant (q1–q4), priority (High/Med/Low)</a:t>
            </a:r>
          </a:p>
          <a:p>
            <a:r>
              <a:rPr sz="1300">
                <a:solidFill>
                  <a:srgbClr val="CCD5E0"/>
                </a:solidFill>
              </a:rPr>
              <a:t>• labels, dueDate, completed, completedAt</a:t>
            </a:r>
          </a:p>
          <a:p>
            <a:r>
              <a:rPr sz="1300">
                <a:solidFill>
                  <a:srgbClr val="CCD5E0"/>
                </a:solidFill>
              </a:rPr>
              <a:t>• owner — ObjectId ref to User (enforces privacy)</a:t>
            </a:r>
          </a:p>
          <a:p>
            <a:r>
              <a:rPr sz="1300">
                <a:solidFill>
                  <a:srgbClr val="CCD5E0"/>
                </a:solidFill>
              </a:rPr>
              <a:t>• order — Number for drag-and-drop within quadrant</a:t>
            </a:r>
          </a:p>
          <a:p>
            <a:r>
              <a:rPr sz="1300">
                <a:solidFill>
                  <a:srgbClr val="CCD5E0"/>
                </a:solidFill>
              </a:rPr>
              <a:t>• comments, activity — audit log of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3258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API Route Groups  (/api/*)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709928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D700"/>
                </a:solidFill>
              </a:rPr>
              <a:t>/api/auth</a:t>
            </a:r>
          </a:p>
          <a:p>
            <a:r>
              <a:rPr sz="1200">
                <a:solidFill>
                  <a:srgbClr val="CCD5E0"/>
                </a:solidFill>
              </a:rPr>
              <a:t>   Register, login, logout, forgot/reset password  [Partial auth]</a:t>
            </a:r>
          </a:p>
          <a:p>
            <a:r>
              <a:t/>
            </a:r>
          </a:p>
          <a:p>
            <a:r>
              <a:rPr sz="1400" b="1">
                <a:solidFill>
                  <a:srgbClr val="FFD700"/>
                </a:solidFill>
              </a:rPr>
              <a:t>/api/tasks</a:t>
            </a:r>
          </a:p>
          <a:p>
            <a:r>
              <a:rPr sz="1200">
                <a:solidFill>
                  <a:srgbClr val="CCD5E0"/>
                </a:solidFill>
              </a:rPr>
              <a:t>   CRUD, drag-order, trash, restore, bulk operations  [JWT required]</a:t>
            </a:r>
          </a:p>
          <a:p>
            <a:r>
              <a:t/>
            </a:r>
          </a:p>
          <a:p>
            <a:r>
              <a:rPr sz="1400" b="1">
                <a:solidFill>
                  <a:srgbClr val="FFD700"/>
                </a:solidFill>
              </a:rPr>
              <a:t>/api/ai</a:t>
            </a:r>
          </a:p>
          <a:p>
            <a:r>
              <a:rPr sz="1200">
                <a:solidFill>
                  <a:srgbClr val="CCD5E0"/>
                </a:solidFill>
              </a:rPr>
              <a:t>   Quadrant suggest, subtask generate, classification warn  [JWT required]</a:t>
            </a:r>
          </a:p>
          <a:p>
            <a:r>
              <a:t/>
            </a:r>
          </a:p>
          <a:p>
            <a:r>
              <a:rPr sz="1400" b="1">
                <a:solidFill>
                  <a:srgbClr val="FFD700"/>
                </a:solidFill>
              </a:rPr>
              <a:t>/api/teams</a:t>
            </a:r>
          </a:p>
          <a:p>
            <a:r>
              <a:rPr sz="1200">
                <a:solidFill>
                  <a:srgbClr val="CCD5E0"/>
                </a:solidFill>
              </a:rPr>
              <a:t>   Create team, invite member, manage roles  [JWT required]</a:t>
            </a:r>
          </a:p>
          <a:p>
            <a:r>
              <a:t/>
            </a:r>
          </a:p>
          <a:p>
            <a:r>
              <a:rPr sz="1400" b="1">
                <a:solidFill>
                  <a:srgbClr val="FFD700"/>
                </a:solidFill>
              </a:rPr>
              <a:t>/api/analytics</a:t>
            </a:r>
          </a:p>
          <a:p>
            <a:r>
              <a:rPr sz="1200">
                <a:solidFill>
                  <a:srgbClr val="CCD5E0"/>
                </a:solidFill>
              </a:rPr>
              <a:t>   Completion stats, heatmap, quadrant distribution  [JWT required]</a:t>
            </a:r>
          </a:p>
          <a:p>
            <a: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5  Project Setup &amp;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Repository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09928"/>
            <a:ext cx="576072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TaskMatrix/</a:t>
            </a:r>
          </a:p>
          <a:p>
            <a:r>
              <a:rPr sz="1200" b="0">
                <a:solidFill>
                  <a:srgbClr val="CCD5E0"/>
                </a:solidFill>
              </a:rPr>
              <a:t>  server/         — Node.js + Express backend</a:t>
            </a:r>
          </a:p>
          <a:p>
            <a:r>
              <a:rPr sz="1200" b="0">
                <a:solidFill>
                  <a:srgbClr val="CCD5E0"/>
                </a:solidFill>
              </a:rPr>
              <a:t>    server.js      — Entry point</a:t>
            </a:r>
          </a:p>
          <a:p>
            <a:r>
              <a:rPr sz="1200" b="0">
                <a:solidFill>
                  <a:srgbClr val="CCD5E0"/>
                </a:solidFill>
              </a:rPr>
              <a:t>    models/        — Mongoose schemas</a:t>
            </a:r>
          </a:p>
          <a:p>
            <a:r>
              <a:rPr sz="1200" b="0">
                <a:solidFill>
                  <a:srgbClr val="CCD5E0"/>
                </a:solidFill>
              </a:rPr>
              <a:t>    controllers/   — Route handler logic</a:t>
            </a:r>
          </a:p>
          <a:p>
            <a:r>
              <a:rPr sz="1200" b="0">
                <a:solidFill>
                  <a:srgbClr val="CCD5E0"/>
                </a:solidFill>
              </a:rPr>
              <a:t>    routes/        — Express router definitions</a:t>
            </a:r>
          </a:p>
          <a:p>
            <a:r>
              <a:rPr sz="1200" b="0">
                <a:solidFill>
                  <a:srgbClr val="CCD5E0"/>
                </a:solidFill>
              </a:rPr>
              <a:t>    middleware/    — Auth protect, error handler</a:t>
            </a:r>
          </a:p>
          <a:p>
            <a:r>
              <a:rPr sz="1200" b="0">
                <a:solidFill>
                  <a:srgbClr val="CCD5E0"/>
                </a:solidFill>
              </a:rPr>
              <a:t>    config/        — Database connection</a:t>
            </a:r>
          </a:p>
          <a:p>
            <a:r>
              <a:rPr sz="1200" b="0">
                <a:solidFill>
                  <a:srgbClr val="CCD5E0"/>
                </a:solidFill>
              </a:rPr>
              <a:t>  client/          — React + Vite frontend</a:t>
            </a:r>
          </a:p>
          <a:p>
            <a:r>
              <a:rPr sz="1200" b="0">
                <a:solidFill>
                  <a:srgbClr val="CCD5E0"/>
                </a:solidFill>
              </a:rPr>
              <a:t>    src/           — App.jsx, main.jsx, context/</a:t>
            </a:r>
          </a:p>
          <a:p>
            <a:r>
              <a:rPr sz="1200" b="0">
                <a:solidFill>
                  <a:srgbClr val="CCD5E0"/>
                </a:solidFill>
              </a:rPr>
              <a:t>    vite.config.js — Proxy /api → localhost:5000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Environment Variables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09928"/>
            <a:ext cx="5669280" cy="16916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544068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2A9D8F"/>
                </a:solidFill>
              </a:rPr>
              <a:t>PORT=5000</a:t>
            </a:r>
          </a:p>
          <a:p>
            <a:r>
              <a:rPr sz="1250">
                <a:solidFill>
                  <a:srgbClr val="2A9D8F"/>
                </a:solidFill>
              </a:rPr>
              <a:t>MONGO_URI=mongodb://localhost:27017/taskmatrix</a:t>
            </a:r>
          </a:p>
          <a:p>
            <a:r>
              <a:rPr sz="1250">
                <a:solidFill>
                  <a:srgbClr val="2A9D8F"/>
                </a:solidFill>
              </a:rPr>
              <a:t>JWT_SECRET=your_secret_key_here</a:t>
            </a:r>
          </a:p>
          <a:p>
            <a:r>
              <a:rPr sz="1250">
                <a:solidFill>
                  <a:srgbClr val="2A9D8F"/>
                </a:solidFill>
              </a:rPr>
              <a:t>NODE_ENV=development</a:t>
            </a:r>
          </a:p>
          <a:p>
            <a:r>
              <a:rPr sz="1250">
                <a:solidFill>
                  <a:srgbClr val="2A9D8F"/>
                </a:solidFill>
              </a:rPr>
              <a:t>ANTHROPIC_API_KEY=your_anthropic_key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52044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Key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904488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D5E0"/>
                </a:solidFill>
              </a:rPr>
              <a:t>Server: express, mongoose, jsonwebtoken, bcryptjs,</a:t>
            </a:r>
          </a:p>
          <a:p>
            <a:r>
              <a:rPr sz="1300">
                <a:solidFill>
                  <a:srgbClr val="CCD5E0"/>
                </a:solidFill>
              </a:rPr>
              <a:t>        cors, dotenv, @anthropic-ai/sdk</a:t>
            </a:r>
          </a:p>
          <a:p>
            <a:r>
              <a:rPr sz="1300">
                <a:solidFill>
                  <a:srgbClr val="CCD5E0"/>
                </a:solidFill>
              </a:rPr>
              <a:t>Client: react, react-router-dom, axios,</a:t>
            </a:r>
          </a:p>
          <a:p>
            <a:r>
              <a:rPr sz="1300">
                <a:solidFill>
                  <a:srgbClr val="CCD5E0"/>
                </a:solidFill>
              </a:rPr>
              <a:t>        @hello-pangea/dnd, vite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6  Backend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Express API + MongoDB + Claude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Authentication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09928"/>
            <a:ext cx="5760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CCD5E0"/>
                </a:solidFill>
              </a:rPr>
              <a:t>• Registration: bcrypt hash (factor 12), auto-derive avatar initials, detect timezone</a:t>
            </a:r>
          </a:p>
          <a:p>
            <a:r>
              <a:rPr sz="1250">
                <a:solidFill>
                  <a:srgbClr val="CCD5E0"/>
                </a:solidFill>
              </a:rPr>
              <a:t>• Login: check lockout → compare bcrypt → increment failures via findByIdAndUpdate</a:t>
            </a:r>
          </a:p>
          <a:p>
            <a:r>
              <a:rPr sz="1250">
                <a:solidFill>
                  <a:srgbClr val="CCD5E0"/>
                </a:solidFill>
              </a:rPr>
              <a:t>• JWT: signed 30-day token returned on successful login</a:t>
            </a:r>
          </a:p>
          <a:p>
            <a:r>
              <a:rPr sz="1250">
                <a:solidFill>
                  <a:srgbClr val="CCD5E0"/>
                </a:solidFill>
              </a:rPr>
              <a:t>• Lockout: 5 failures → lockUntil set to 15 min in the future</a:t>
            </a:r>
          </a:p>
          <a:p>
            <a:r>
              <a:rPr sz="1250">
                <a:solidFill>
                  <a:srgbClr val="CCD5E0"/>
                </a:solidFill>
              </a:rPr>
              <a:t>• Forgot Password: crypto.randomBytes(32) token, SHA-256 hash stored, 1-hour expiry</a:t>
            </a:r>
          </a:p>
          <a:p>
            <a:r>
              <a:rPr sz="1250">
                <a:solidFill>
                  <a:srgbClr val="CCD5E0"/>
                </a:solidFill>
              </a:rPr>
              <a:t>• Reset Password: hash submitted token → match DB record → update with bcrypt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34340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Task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727448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CCD5E0"/>
                </a:solidFill>
              </a:rPr>
              <a:t>• All routes protected with JWT middleware — owner filter on every query</a:t>
            </a:r>
          </a:p>
          <a:p>
            <a:r>
              <a:rPr sz="1250">
                <a:solidFill>
                  <a:srgbClr val="CCD5E0"/>
                </a:solidFill>
              </a:rPr>
              <a:t>• CRUD: create, read, update, delete with full validation</a:t>
            </a:r>
          </a:p>
          <a:p>
            <a:r>
              <a:rPr sz="1250">
                <a:solidFill>
                  <a:srgbClr val="CCD5E0"/>
                </a:solidFill>
              </a:rPr>
              <a:t>• Drag-and-drop: PATCH /api/tasks/reorder updates order field</a:t>
            </a:r>
          </a:p>
          <a:p>
            <a:r>
              <a:rPr sz="1250">
                <a:solidFill>
                  <a:srgbClr val="CCD5E0"/>
                </a:solidFill>
              </a:rPr>
              <a:t>• Soft-delete: tasks move to trash; restore or permanent delete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3258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AI Integration (Anthropic Claude)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709928"/>
            <a:ext cx="5669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CCD5E0"/>
                </a:solidFill>
              </a:rPr>
              <a:t>• POST /api/ai/suggest-quadrant — reads title &amp; notes, returns Q1–Q4 recommendation</a:t>
            </a:r>
          </a:p>
          <a:p>
            <a:r>
              <a:rPr sz="1250">
                <a:solidFill>
                  <a:srgbClr val="CCD5E0"/>
                </a:solidFill>
              </a:rPr>
              <a:t>• POST /api/ai/generate-subtasks — breaks task into actionable checklist items</a:t>
            </a:r>
          </a:p>
          <a:p>
            <a:r>
              <a:rPr sz="1250">
                <a:solidFill>
                  <a:srgbClr val="CCD5E0"/>
                </a:solidFill>
              </a:rPr>
              <a:t>• POST /api/ai/check-classification — warns if chosen quadrant seems wrong</a:t>
            </a:r>
          </a:p>
          <a:p>
            <a:r>
              <a:rPr sz="1250">
                <a:solidFill>
                  <a:srgbClr val="CCD5E0"/>
                </a:solidFill>
              </a:rPr>
              <a:t>• In-memory cache: 5 min TTL, 500-entry limit to reduce API calls &amp;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0690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Analytics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453128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CCD5E0"/>
                </a:solidFill>
              </a:rPr>
              <a:t>• 14-day bar chart of task completions</a:t>
            </a:r>
          </a:p>
          <a:p>
            <a:r>
              <a:rPr sz="1250">
                <a:solidFill>
                  <a:srgbClr val="CCD5E0"/>
                </a:solidFill>
              </a:rPr>
              <a:t>• Quadrant distribution (pie / counts)</a:t>
            </a:r>
          </a:p>
          <a:p>
            <a:r>
              <a:rPr sz="1250">
                <a:solidFill>
                  <a:srgbClr val="CCD5E0"/>
                </a:solidFill>
              </a:rPr>
              <a:t>• Real activity heatmap from actual completion timestamps</a:t>
            </a:r>
          </a:p>
          <a:p>
            <a:r>
              <a:rPr sz="1250">
                <a:solidFill>
                  <a:srgbClr val="CCD5E0"/>
                </a:solidFill>
              </a:rPr>
              <a:t>• No fake/randomly generated data — FR-501 compliance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7  Frontend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React + Vite SPA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Core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09928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FFFFFF"/>
                </a:solidFill>
              </a:rPr>
              <a:t>• Login / Register: </a:t>
            </a:r>
            <a:r>
              <a:rPr sz="1300">
                <a:solidFill>
                  <a:srgbClr val="CCD5E0"/>
                </a:solidFill>
              </a:rPr>
              <a:t>JWT auth forms with lockout handling</a:t>
            </a:r>
          </a:p>
          <a:p>
            <a:r>
              <a:rPr b="1" sz="1300">
                <a:solidFill>
                  <a:srgbClr val="FFFFFF"/>
                </a:solidFill>
              </a:rPr>
              <a:t>• Eisenhower Board: </a:t>
            </a:r>
            <a:r>
              <a:rPr sz="1300">
                <a:solidFill>
                  <a:srgbClr val="CCD5E0"/>
                </a:solidFill>
              </a:rPr>
              <a:t>Drag-and-drop four-quadrant task board</a:t>
            </a:r>
          </a:p>
          <a:p>
            <a:r>
              <a:rPr b="1" sz="1300">
                <a:solidFill>
                  <a:srgbClr val="FFFFFF"/>
                </a:solidFill>
              </a:rPr>
              <a:t>• Task Detail: </a:t>
            </a:r>
            <a:r>
              <a:rPr sz="1300">
                <a:solidFill>
                  <a:srgbClr val="CCD5E0"/>
                </a:solidFill>
              </a:rPr>
              <a:t>Full task view: notes, subtasks, comments, AI actions</a:t>
            </a:r>
          </a:p>
          <a:p>
            <a:r>
              <a:rPr b="1" sz="1300">
                <a:solidFill>
                  <a:srgbClr val="FFFFFF"/>
                </a:solidFill>
              </a:rPr>
              <a:t>• Analytics: </a:t>
            </a:r>
            <a:r>
              <a:rPr sz="1300">
                <a:solidFill>
                  <a:srgbClr val="CCD5E0"/>
                </a:solidFill>
              </a:rPr>
              <a:t>Charts: 14-day bar, quadrant pie, heatmap, CSV/PDF export</a:t>
            </a:r>
          </a:p>
          <a:p>
            <a:r>
              <a:rPr b="1" sz="1300">
                <a:solidFill>
                  <a:srgbClr val="FFFFFF"/>
                </a:solidFill>
              </a:rPr>
              <a:t>• Team Page: </a:t>
            </a:r>
            <a:r>
              <a:rPr sz="1300">
                <a:solidFill>
                  <a:srgbClr val="CCD5E0"/>
                </a:solidFill>
              </a:rPr>
              <a:t>Invite members, assign roles, shared task view</a:t>
            </a:r>
          </a:p>
          <a:p>
            <a:r>
              <a:rPr b="1" sz="1300">
                <a:solidFill>
                  <a:srgbClr val="FFFFFF"/>
                </a:solidFill>
              </a:rPr>
              <a:t>• Journal: </a:t>
            </a:r>
            <a:r>
              <a:rPr sz="1300">
                <a:solidFill>
                  <a:srgbClr val="CCD5E0"/>
                </a:solidFill>
              </a:rPr>
              <a:t>Private notes with create, edit, search, delete</a:t>
            </a:r>
          </a:p>
          <a:p>
            <a:r>
              <a:rPr b="1" sz="1300">
                <a:solidFill>
                  <a:srgbClr val="FFFFFF"/>
                </a:solidFill>
              </a:rPr>
              <a:t>• Trash: </a:t>
            </a:r>
            <a:r>
              <a:rPr sz="1300">
                <a:solidFill>
                  <a:srgbClr val="CCD5E0"/>
                </a:solidFill>
              </a:rPr>
              <a:t>Soft-deleted tasks — restore or permanent delete</a:t>
            </a:r>
          </a:p>
          <a:p>
            <a:r>
              <a:rPr b="1" sz="1300">
                <a:solidFill>
                  <a:srgbClr val="FFFFFF"/>
                </a:solidFill>
              </a:rPr>
              <a:t>• Settings: </a:t>
            </a:r>
            <a:r>
              <a:rPr sz="1300">
                <a:solidFill>
                  <a:srgbClr val="CCD5E0"/>
                </a:solidFill>
              </a:rPr>
              <a:t>Profile, password change, dark mode toggle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90FF"/>
                </a:solidFill>
              </a:rPr>
              <a:t>Key Technical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09928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D5E0"/>
                </a:solidFill>
              </a:rPr>
              <a:t>• Context API — AuthContext + TaskContext for global state (no Redux)</a:t>
            </a:r>
          </a:p>
          <a:p>
            <a:r>
              <a:rPr sz="1300">
                <a:solidFill>
                  <a:srgbClr val="CCD5E0"/>
                </a:solidFill>
              </a:rPr>
              <a:t>• React Router v6 — RequireAuth guard redirects unauthenticated users</a:t>
            </a:r>
          </a:p>
          <a:p>
            <a:r>
              <a:rPr sz="1300">
                <a:solidFill>
                  <a:srgbClr val="CCD5E0"/>
                </a:solidFill>
              </a:rPr>
              <a:t>• Axios with baseURL '/api' — proxied to backend in dev via Vite</a:t>
            </a:r>
          </a:p>
          <a:p>
            <a:r>
              <a:rPr sz="1300">
                <a:solidFill>
                  <a:srgbClr val="CCD5E0"/>
                </a:solidFill>
              </a:rPr>
              <a:t>• @hello-pangea/dnd — drag-and-drop across quadrants</a:t>
            </a:r>
          </a:p>
          <a:p>
            <a:r>
              <a:rPr sz="1300">
                <a:solidFill>
                  <a:srgbClr val="CCD5E0"/>
                </a:solidFill>
              </a:rPr>
              <a:t>• Global CSS design system — CSS variables for theming and dark mode</a:t>
            </a:r>
          </a:p>
          <a:p>
            <a:r>
              <a:rPr sz="1300">
                <a:solidFill>
                  <a:srgbClr val="CCD5E0"/>
                </a:solidFill>
              </a:rPr>
              <a:t>• Vite HMR — fast feedback during development</a:t>
            </a:r>
          </a:p>
          <a:p>
            <a:r>
              <a:rPr sz="1300">
                <a:solidFill>
                  <a:srgbClr val="CCD5E0"/>
                </a:solidFill>
              </a:rPr>
              <a:t>• All interactive elements: tabIndex + onKeyDown for accessibility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App Design &amp; UI Screenshots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Extracted from project documentation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365760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6052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5E0"/>
                </a:solidFill>
              </a:rPr>
              <a:t>Authentication / Onboarding</a:t>
            </a:r>
          </a:p>
        </p:txBody>
      </p:sp>
      <p:pic>
        <p:nvPicPr>
          <p:cNvPr id="11" name="Picture 10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25880"/>
            <a:ext cx="3657600" cy="4206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06240" y="56052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5E0"/>
                </a:solidFill>
              </a:rPr>
              <a:t>Eisenhower Board View</a:t>
            </a:r>
          </a:p>
        </p:txBody>
      </p:sp>
      <p:pic>
        <p:nvPicPr>
          <p:cNvPr id="13" name="Picture 12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325880"/>
            <a:ext cx="3657600" cy="4206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92440" y="56052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5E0"/>
                </a:solidFill>
              </a:rPr>
              <a:t>Task Detail / AI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8  Errors &amp; Problems Encountered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14+ Bugs Resolved During Development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Vite command not found: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npm install --legacy-peer-deps to bypass peer-dep conflicts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764792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App bypassed login on load: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975104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RequireAuth guard added; unauthenticated routes redirect to /login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203704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Login failed after registration: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414016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Replaced user.save() with User.findByIdAndUpdate() to skip pre-save hook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642616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Gmail OAuth logged in as guest: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285292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Removed OAuth; replaced with standard email/password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08152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Login broken after deployment: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291840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CORS configuration and JWT_SECRET env var corrected on Render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520440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Cross-user task leakage: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3730752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All task queries now filter by { owner: req.user._id } at DB level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325880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Drag-and-drop ordering lost: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536192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Added order field to Task model; PATCH /reorder updates positions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764792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Analytics showed fake data: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975104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Rewrote analytics controller to query real completion timestamps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03704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Dark mode flash on load: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414016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Dark mode class applied in main.jsx before first render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642616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Password reset token mismatch: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85292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SHA-256 hash stored; raw token sent to client; match on hashed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08152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AI quadrant cache invalidation: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291840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TTL-based cache (5 min) prevents stale AI responses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520440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D700"/>
                </a:solidFill>
              </a:rPr>
              <a:t>⚠  Team invite for non-existent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730752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5E0"/>
                </a:solidFill>
              </a:rPr>
              <a:t>    → Backend validates user by email before sending invite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9  Deployment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154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E90FF"/>
                </a:solidFill>
              </a:rPr>
              <a:t>Render + Vercel + MongoDB Atlas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5806440" cy="38404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362456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Step 1 — MongoDB Atlas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78308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Create free M0 cluster on mongodb.com/atlas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13055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Create DB user; whitelist 0.0.0.0/0 for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47802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Copy connection URI (mongodb+srv://...)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325880"/>
            <a:ext cx="5806440" cy="38404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362456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Step 2 — Backend on Render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8308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New Web Service → connect GitHub 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13055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Root Dir: server  |  Start: node server.js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47802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Add env vars: MONGO_URI, JWT_SECRET, ANTHROPIC_API_KEY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520440"/>
            <a:ext cx="5806440" cy="384048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3557016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Step 3 — Frontend on Vercel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397764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Import client/ dir; Framework: Vite; Output: dist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432511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Add VITE_API_URL = https://taskmatrix-api.onrender.com/api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467258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Add vercel.json with SPA rewrite rule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520440"/>
            <a:ext cx="5806440" cy="38404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557016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Step 4 — Update CORS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97764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Set CLIENT_URL = https://your-app.vercel.app on Render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432511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• Ensures CORS only allows requests from Vercel frontend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9728"/>
            <a:ext cx="115488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10  Future Enhancements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5760720" cy="10789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137160" cy="107899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32120" y="1417320"/>
            <a:ext cx="475488" cy="2743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13832" y="1389888"/>
            <a:ext cx="493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41732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Email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182880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SendGrid / Resend for password reset &amp; overdue notifications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325880"/>
            <a:ext cx="5760720" cy="10789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325880"/>
            <a:ext cx="137160" cy="107899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21440" y="1417320"/>
            <a:ext cx="475488" cy="2743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503152" y="1389888"/>
            <a:ext cx="493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141732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Real-Time 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182880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Socket.io — live updates across team members without page refresh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496312"/>
            <a:ext cx="5760720" cy="10789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496312"/>
            <a:ext cx="137160" cy="10789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32120" y="2587752"/>
            <a:ext cx="475488" cy="2743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13832" y="2560320"/>
            <a:ext cx="493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25877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Push 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" y="2999232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Web Push API for overdue alerts even when the app is closed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496312"/>
            <a:ext cx="5760720" cy="10789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2496312"/>
            <a:ext cx="137160" cy="107899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521440" y="2587752"/>
            <a:ext cx="475488" cy="274320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503152" y="2560320"/>
            <a:ext cx="493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392" y="25877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Mobile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2999232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React Native version sharing the same backend REST API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666744"/>
            <a:ext cx="5760720" cy="10789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3666744"/>
            <a:ext cx="137160" cy="1078992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32120" y="3758184"/>
            <a:ext cx="475488" cy="274320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13832" y="3730752"/>
            <a:ext cx="493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" y="375818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Recurring Tasks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4169664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Tasks that auto-recreate themselves on a defined schedule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3666744"/>
            <a:ext cx="5760720" cy="10789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3666744"/>
            <a:ext cx="137160" cy="10789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521440" y="3758184"/>
            <a:ext cx="475488" cy="274320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503152" y="3730752"/>
            <a:ext cx="493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392" y="375818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Calendar Sync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5392" y="4169664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Export due dates to Google Calendar / iCal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4837176"/>
            <a:ext cx="5760720" cy="107899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0040" y="4837176"/>
            <a:ext cx="137160" cy="107899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32120" y="4928616"/>
            <a:ext cx="475488" cy="2743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13832" y="4901184"/>
            <a:ext cx="493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072" y="492861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Full-Text Search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" y="5340096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5E0"/>
                </a:solidFill>
              </a:rPr>
              <a:t>MongoDB text index on task titles and notes for fast search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377440"/>
            <a:ext cx="5760720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90FF"/>
                </a:solidFill>
              </a:rPr>
              <a:t>TaskMatrix — Task Prioritization Web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5E0"/>
                </a:solidFill>
              </a:rPr>
              <a:t>GROUP 3  |  SEN 302 – Web Application Development
Fatima Bashir Haruna (20230836)  |  Muhammad Tijjani (20231017)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5E0"/>
                </a:solidFill>
              </a:rPr>
              <a:t>Built on MERN Stack  •  Powered by Anthropic Claude AI  •  Deployed on Render + Vercel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5E0"/>
                </a:solidFill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