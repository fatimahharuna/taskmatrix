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88952" cy="36576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TaskMatrix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4AB0FF"/>
                </a:solidFill>
              </a:rPr>
              <a:t>Task Prioritization Web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4AB0FF"/>
                </a:solidFill>
              </a:rPr>
              <a:t>using Eisenhower Matrix and AI Suggestions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0AEC0"/>
                </a:solidFill>
              </a:rPr>
              <a:t>Software Engineering Project  ·  Group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0AEC0"/>
                </a:solidFill>
              </a:rPr>
              <a:t>MERN Stack  ·  AI-Powered  ·  Collaborative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035040"/>
            <a:ext cx="2286000" cy="2286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Q1 · Urgent / Important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6035040"/>
            <a:ext cx="2286000" cy="2286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Q2 · Schedule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6035040"/>
            <a:ext cx="2286000" cy="228600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Q3 · Delegate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6035040"/>
            <a:ext cx="2286000" cy="22860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Q4 · Eliminate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4864" cy="38404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B0FF"/>
                </a:solidFill>
              </a:rPr>
              <a:t>Why task management is broken for most users and teams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508760"/>
            <a:ext cx="457200" cy="45720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People struggle to prioritize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647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</a:rPr>
              <a:t>With so many tasks competing for attention, users waste time on low-impact work.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651760"/>
            <a:ext cx="457200" cy="45720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Existing apps overwhelm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077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</a:rPr>
              <a:t>Traditional to-do apps offer no guidance — just lists that grow endlessly.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794760"/>
            <a:ext cx="457200" cy="45720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49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Urgent vs. Important confusion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507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</a:rPr>
              <a:t>Users conflate "urgent" and "important," leading to Q1 firefighting loops.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937760"/>
            <a:ext cx="457200" cy="45720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92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Teams lack coordination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1937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</a:rPr>
              <a:t>Shared task ownership is unclear, causing duplicated effort and missed deadlines.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4864" cy="38404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Proposed Solution — TaskMatrix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B0FF"/>
                </a:solidFill>
              </a:rPr>
              <a:t>An intelligent, collaborative task prioritization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2743200" cy="3840480"/>
          </a:xfrm>
          <a:prstGeom prst="rect">
            <a:avLst/>
          </a:prstGeom>
          <a:solidFill>
            <a:srgbClr val="14273D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274320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90FF"/>
                </a:solidFill>
              </a:rPr>
              <a:t>Eisenhower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028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</a:rPr>
              <a:t>Visual 2×2 board organizes tasks by urgency and importance.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554480"/>
            <a:ext cx="2743200" cy="3840480"/>
          </a:xfrm>
          <a:prstGeom prst="rect">
            <a:avLst/>
          </a:prstGeom>
          <a:solidFill>
            <a:srgbClr val="14273D"/>
          </a:solidFill>
          <a:ln w="1905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554480"/>
            <a:ext cx="2743200" cy="54864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737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8BB78"/>
                </a:solidFill>
              </a:rPr>
              <a:t>AI Suggestions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24028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</a:rPr>
              <a:t>Anthropic Claude API auto-classifies tasks and suggests quadrants.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554480"/>
            <a:ext cx="2743200" cy="3840480"/>
          </a:xfrm>
          <a:prstGeom prst="rect">
            <a:avLst/>
          </a:prstGeom>
          <a:solidFill>
            <a:srgbClr val="14273D"/>
          </a:solidFill>
          <a:ln w="19050"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554480"/>
            <a:ext cx="2743200" cy="54864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737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6AD55"/>
                </a:solidFill>
              </a:rPr>
              <a:t>Analytics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4028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</a:rPr>
              <a:t>Track completion rates, quadrant distribution, and productivity trends.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554480"/>
            <a:ext cx="2743200" cy="3840480"/>
          </a:xfrm>
          <a:prstGeom prst="rect">
            <a:avLst/>
          </a:prstGeom>
          <a:solidFill>
            <a:srgbClr val="14273D"/>
          </a:solidFill>
          <a:ln w="1905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06840" y="1554480"/>
            <a:ext cx="2743200" cy="5486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737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53E3E"/>
                </a:solidFill>
              </a:rPr>
              <a:t>Team Collaboration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24028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</a:rPr>
              <a:t>Shared boards with real-time updates, role-based access, and comments.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4864" cy="38404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347472" cy="34747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9903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Develop a responsive MERN stack web application (MongoDB, Express, React, Node.js)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347472" cy="34747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Implement a four-quadrant Eisenhower Matrix board with drag-and-drop task management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71800"/>
            <a:ext cx="347472" cy="34747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535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Integrate an AI-powered prioritization engine using the Anthropic Claude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49040"/>
            <a:ext cx="347472" cy="34747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307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Support real-time team collaboration with role-based access control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26280"/>
            <a:ext cx="347472" cy="34747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0799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Provide analytics and productivity tracking via an interactive 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303520"/>
            <a:ext cx="347472" cy="34747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28523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Ensure accessibility (WCAG 2.1 AA), security (OWASP Top 10), and mobile responsiveness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4864" cy="38404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Feature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B0FF"/>
                </a:solidFill>
              </a:rPr>
              <a:t>Eight core feature areas across the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2743200" cy="1920240"/>
          </a:xfrm>
          <a:prstGeom prst="rect">
            <a:avLst/>
          </a:prstGeom>
          <a:solidFill>
            <a:srgbClr val="14273D"/>
          </a:solidFill>
          <a:ln w="1905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2743200" cy="4572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53E3E"/>
                </a:solidFill>
              </a:rP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Email/password + Google OAuth, MFA, JWT sessions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554480"/>
            <a:ext cx="2743200" cy="1920240"/>
          </a:xfrm>
          <a:prstGeom prst="rect">
            <a:avLst/>
          </a:prstGeom>
          <a:solidFill>
            <a:srgbClr val="14273D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554480"/>
            <a:ext cx="2743200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90FF"/>
                </a:solidFill>
              </a:rPr>
              <a:t>Matrix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0116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Drag-and-drop 2×2 Eisenhower board with quadrant analytics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554480"/>
            <a:ext cx="2743200" cy="1920240"/>
          </a:xfrm>
          <a:prstGeom prst="rect">
            <a:avLst/>
          </a:prstGeom>
          <a:solidFill>
            <a:srgbClr val="14273D"/>
          </a:solidFill>
          <a:ln w="1905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554480"/>
            <a:ext cx="2743200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8BB78"/>
                </a:solidFill>
              </a:rPr>
              <a:t>AI Suggestions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0116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Claude API classifies tasks with confidence scores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554480"/>
            <a:ext cx="2743200" cy="1920240"/>
          </a:xfrm>
          <a:prstGeom prst="rect">
            <a:avLst/>
          </a:prstGeom>
          <a:solidFill>
            <a:srgbClr val="14273D"/>
          </a:solidFill>
          <a:ln w="19050"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06840" y="1554480"/>
            <a:ext cx="2743200" cy="45720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6AD55"/>
                </a:solidFill>
              </a:rPr>
              <a:t>Analytics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0116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Completion rate, trends, quadrant distribution charts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49040"/>
            <a:ext cx="2743200" cy="1920240"/>
          </a:xfrm>
          <a:prstGeom prst="rect">
            <a:avLst/>
          </a:prstGeom>
          <a:solidFill>
            <a:srgbClr val="14273D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749040"/>
            <a:ext cx="2743200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840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90FF"/>
                </a:solidFill>
              </a:rPr>
              <a:t>Notifications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20624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Email reminders, in-app alerts, browser push, daily digest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3749040"/>
            <a:ext cx="2743200" cy="1920240"/>
          </a:xfrm>
          <a:prstGeom prst="rect">
            <a:avLst/>
          </a:prstGeom>
          <a:solidFill>
            <a:srgbClr val="14273D"/>
          </a:solidFill>
          <a:ln w="19050">
            <a:solidFill>
              <a:srgbClr val="4A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46120" y="3749040"/>
            <a:ext cx="2743200" cy="45720"/>
          </a:xfrm>
          <a:prstGeom prst="rect">
            <a:avLst/>
          </a:prstGeom>
          <a:solidFill>
            <a:srgbClr val="4A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3840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B0FF"/>
                </a:solidFill>
              </a:rPr>
              <a:t>Team Collaboration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20624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Shared boards, @mentions, activity history, real-time sync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749040"/>
            <a:ext cx="2743200" cy="1920240"/>
          </a:xfrm>
          <a:prstGeom prst="rect">
            <a:avLst/>
          </a:prstGeom>
          <a:solidFill>
            <a:srgbClr val="14273D"/>
          </a:solidFill>
          <a:ln w="1905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3749040"/>
            <a:ext cx="2743200" cy="4572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840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53E3E"/>
                </a:solidFill>
              </a:rPr>
              <a:t>Integrations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20624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Calendar sync, Slack, Zapier, REST API &amp; webhooks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840" y="3749040"/>
            <a:ext cx="2743200" cy="1920240"/>
          </a:xfrm>
          <a:prstGeom prst="rect">
            <a:avLst/>
          </a:prstGeom>
          <a:solidFill>
            <a:srgbClr val="14273D"/>
          </a:solidFill>
          <a:ln w="1905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06840" y="3749040"/>
            <a:ext cx="2743200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3840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8BB78"/>
                </a:solidFill>
              </a:rPr>
              <a:t>Responsive 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20624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Mobile-first design, dark mode, WCAG 2.1 AA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4864" cy="38404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B0FF"/>
                </a:solidFill>
              </a:rPr>
              <a:t>MERN stack with AI integration and cloud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554480"/>
            <a:ext cx="8229600" cy="822960"/>
          </a:xfrm>
          <a:prstGeom prst="rect">
            <a:avLst/>
          </a:prstGeom>
          <a:solidFill>
            <a:srgbClr val="14273D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1554480"/>
            <a:ext cx="73152" cy="82296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90FF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60020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</a:rPr>
              <a:t>React 18 + Vite · Tailwind CSS · React Router · Zustand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2377440"/>
            <a:ext cx="137160" cy="2743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0" y="2651760"/>
            <a:ext cx="8229600" cy="822960"/>
          </a:xfrm>
          <a:prstGeom prst="rect">
            <a:avLst/>
          </a:prstGeom>
          <a:solidFill>
            <a:srgbClr val="14273D"/>
          </a:solidFill>
          <a:ln w="2540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0" y="2651760"/>
            <a:ext cx="73152" cy="8229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8BB78"/>
                </a:solidFill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6974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</a:rPr>
              <a:t>Node.js + Express · REST API · JWT Auth · Socket.io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3474720"/>
            <a:ext cx="137160" cy="2743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0" y="3749040"/>
            <a:ext cx="8229600" cy="822960"/>
          </a:xfrm>
          <a:prstGeom prst="rect">
            <a:avLst/>
          </a:prstGeom>
          <a:solidFill>
            <a:srgbClr val="14273D"/>
          </a:solidFill>
          <a:ln w="25400"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0" y="3749040"/>
            <a:ext cx="73152" cy="822960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6AD55"/>
                </a:solidFill>
              </a:rP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79476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</a:rPr>
              <a:t>MongoDB (Atlas) · Mongoose ODM · Redis (session cache)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4572000"/>
            <a:ext cx="137160" cy="2743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0" y="4846320"/>
            <a:ext cx="8229600" cy="822960"/>
          </a:xfrm>
          <a:prstGeom prst="rect">
            <a:avLst/>
          </a:prstGeom>
          <a:solidFill>
            <a:srgbClr val="14273D"/>
          </a:solidFill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0" y="4846320"/>
            <a:ext cx="73152" cy="82296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3E3E"/>
                </a:solidFill>
              </a:rPr>
              <a:t>AI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8920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</a:rPr>
              <a:t>Anthropic Claude API · Task classification · Confidence scoring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4864" cy="38404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3657600" cy="2194560"/>
          </a:xfrm>
          <a:prstGeom prst="rect">
            <a:avLst/>
          </a:prstGeom>
          <a:solidFill>
            <a:srgbClr val="14273D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90FF"/>
                </a:solidFill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·  React 18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·  Vite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·  Tailwind CSS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·  Axios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·  Socket.io-client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463040"/>
            <a:ext cx="3657600" cy="2194560"/>
          </a:xfrm>
          <a:prstGeom prst="rect">
            <a:avLst/>
          </a:prstGeom>
          <a:solidFill>
            <a:srgbClr val="14273D"/>
          </a:solidFill>
          <a:ln w="1905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8BB78"/>
                </a:solidFill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96596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·  Node.js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·  Express.js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·  Mongoose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·  JWT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·  Socket.io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463040"/>
            <a:ext cx="3657600" cy="2194560"/>
          </a:xfrm>
          <a:prstGeom prst="rect">
            <a:avLst/>
          </a:prstGeom>
          <a:solidFill>
            <a:srgbClr val="14273D"/>
          </a:solidFill>
          <a:ln w="19050"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6AD55"/>
                </a:solidFill>
              </a:rP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6596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·  MongoDB Atlas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·  Redis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·  GridFS (files)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31920"/>
            <a:ext cx="3657600" cy="2194560"/>
          </a:xfrm>
          <a:prstGeom prst="rect">
            <a:avLst/>
          </a:prstGeom>
          <a:solidFill>
            <a:srgbClr val="14273D"/>
          </a:solidFill>
          <a:ln w="1905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023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53E3E"/>
                </a:solidFill>
              </a:rPr>
              <a:t>AI &amp; APIs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43484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·  Anthropic Claude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·  Google OAuth 2.0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·  SendGrid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3931920"/>
            <a:ext cx="3657600" cy="2194560"/>
          </a:xfrm>
          <a:prstGeom prst="rect">
            <a:avLst/>
          </a:prstGeom>
          <a:solidFill>
            <a:srgbClr val="14273D"/>
          </a:solidFill>
          <a:ln w="19050">
            <a:solidFill>
              <a:srgbClr val="4A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4023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B0FF"/>
                </a:solidFill>
              </a:rPr>
              <a:t>DevOps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43484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·  GitHub Actions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·  Docker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·  AWS/GCP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·  Postman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4864" cy="38404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Eisenhower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B0FF"/>
                </a:solidFill>
              </a:rPr>
              <a:t>A proven decision framework for task prioritization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303520" cy="2286000"/>
          </a:xfrm>
          <a:prstGeom prst="rect">
            <a:avLst/>
          </a:prstGeom>
          <a:solidFill>
            <a:srgbClr val="102238"/>
          </a:solidFill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303520" cy="5486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53E3E"/>
                </a:solidFill>
              </a:rPr>
              <a:t>Q1 — Do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299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B0FF"/>
                </a:solidFill>
              </a:rPr>
              <a:t>Urgent + Important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59152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</a:rPr>
              <a:t>Deadlines, crises, emergencies.
Act immediately.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33872" y="1554480"/>
            <a:ext cx="5303520" cy="2286000"/>
          </a:xfrm>
          <a:prstGeom prst="rect">
            <a:avLst/>
          </a:prstGeom>
          <a:solidFill>
            <a:srgbClr val="102238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33872" y="1554480"/>
            <a:ext cx="530352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71032" y="16459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90FF"/>
                </a:solidFill>
              </a:rPr>
              <a:t>Q2 — Schedule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71032" y="20299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B0FF"/>
                </a:solidFill>
              </a:rPr>
              <a:t>Not Urgent + Important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2" y="2359152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</a:rPr>
              <a:t>Long-term goals, planning.
Block time for these.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13632"/>
            <a:ext cx="5303520" cy="2286000"/>
          </a:xfrm>
          <a:prstGeom prst="rect">
            <a:avLst/>
          </a:prstGeom>
          <a:solidFill>
            <a:srgbClr val="102238"/>
          </a:solidFill>
          <a:ln w="25400"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13632"/>
            <a:ext cx="5303520" cy="54864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0050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6AD55"/>
                </a:solidFill>
              </a:rPr>
              <a:t>Q3 — Delegate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B0FF"/>
                </a:solidFill>
              </a:rPr>
              <a:t>Urgent + Not Important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718304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</a:rPr>
              <a:t>Interruptions, some emails.
Delegate where possible.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33872" y="3913632"/>
            <a:ext cx="5303520" cy="2286000"/>
          </a:xfrm>
          <a:prstGeom prst="rect">
            <a:avLst/>
          </a:prstGeom>
          <a:solidFill>
            <a:srgbClr val="102238"/>
          </a:solidFill>
          <a:ln w="2540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33872" y="3913632"/>
            <a:ext cx="5303520" cy="54864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71032" y="40050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8BB78"/>
                </a:solidFill>
              </a:rPr>
              <a:t>Q4 — Eliminate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71032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B0FF"/>
                </a:solidFill>
              </a:rPr>
              <a:t>Not Urgent + Not Important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1032" y="4718304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</a:rPr>
              <a:t>Trivial busy-work.
Eliminate or minimize.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188720"/>
            <a:ext cx="10680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EC0"/>
                </a:solidFill>
              </a:rPr>
              <a:t>← NOT URGENT          URGENT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" y="1828800"/>
            <a:ext cx="365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</a:rPr>
              <a:t>IMPORTANT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" y="4187952"/>
            <a:ext cx="365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</a:rPr>
              <a:t>NOT IMPORTANT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4864" cy="38404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AI Suggestion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B0FF"/>
                </a:solidFill>
              </a:rPr>
              <a:t>Powered by Anthropic Claude API — smart task classification</a:t>
            </a:r>
          </a:p>
        </p:txBody>
      </p:sp>
      <p:pic>
        <p:nvPicPr>
          <p:cNvPr id="5" name="Picture 4" descr="task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6858000" cy="438912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406640" y="1508760"/>
            <a:ext cx="457200" cy="45720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15087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90FF"/>
                </a:solidFill>
              </a:rPr>
              <a:t>User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1810512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Enter task title and 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7808" y="1965960"/>
            <a:ext cx="54864" cy="64008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06640" y="2606040"/>
            <a:ext cx="457200" cy="457200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6060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8BB78"/>
                </a:solidFill>
              </a:rPr>
              <a:t>AI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907792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Claude API evaluates urgency &amp; importance signals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7808" y="3063240"/>
            <a:ext cx="54864" cy="64008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06640" y="3703320"/>
            <a:ext cx="457200" cy="457200"/>
          </a:xfrm>
          <a:prstGeom prst="ellipse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7033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6AD55"/>
                </a:solidFill>
              </a:rPr>
              <a:t>Quadrant Suggest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4005072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AI recommends Q1–Q4 with confidence 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7808" y="4160520"/>
            <a:ext cx="54864" cy="64008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06640" y="4800600"/>
            <a:ext cx="457200" cy="457200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48006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53E3E"/>
                </a:solidFill>
              </a:rPr>
              <a:t>User Confirmation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5102352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Accept, override, or request explanation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5943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</a:rPr>
              <a:t>✓ Confidence indicator: High / Medium / Low
✓ Users can disable AI from settings
✓ Response caching for identical inputs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4864" cy="38404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User Interface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B0FF"/>
                </a:solidFill>
              </a:rPr>
              <a:t>Clean, dark-themed interface with Eisenhower board at its center</a:t>
            </a:r>
          </a:p>
        </p:txBody>
      </p:sp>
      <p:pic>
        <p:nvPicPr>
          <p:cNvPr id="5" name="Picture 4" descr="sign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5394960" cy="3447288"/>
          </a:xfrm>
          <a:prstGeom prst="rect">
            <a:avLst/>
          </a:prstGeom>
        </p:spPr>
      </p:pic>
      <p:pic>
        <p:nvPicPr>
          <p:cNvPr id="6" name="Picture 5" descr="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17320"/>
            <a:ext cx="5943600" cy="34472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4937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B0FF"/>
                </a:solidFill>
              </a:rPr>
              <a:t>Sign-in /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9377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B0FF"/>
                </a:solidFill>
              </a:rPr>
              <a:t>Eisenhower Matrix Board (Direction 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349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EC0"/>
                </a:solidFill>
              </a:rPr>
              <a:t>Google OAuth · Email/Password · MFA support                Drag-and-drop tasks · Color-coded quadrants · Real-time sync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4864" cy="38404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Analytics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B0FF"/>
                </a:solidFill>
              </a:rPr>
              <a:t>Real-time productivity insights and task completion tracking</a:t>
            </a:r>
          </a:p>
        </p:txBody>
      </p:sp>
      <p:pic>
        <p:nvPicPr>
          <p:cNvPr id="5" name="Picture 4" descr="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786384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12480" y="1554480"/>
            <a:ext cx="54864" cy="8229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0" y="15544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8BB78"/>
                </a:solidFill>
              </a:rPr>
              <a:t>Completion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8928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Track % of tasks completed over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2788920"/>
            <a:ext cx="54864" cy="82296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27889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90FF"/>
                </a:solidFill>
              </a:rPr>
              <a:t>Quadrant Split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1272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Visualize distribution across all 4 quadrants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4023360"/>
            <a:ext cx="54864" cy="822960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40233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6AD55"/>
                </a:solidFill>
              </a:rPr>
              <a:t>Weekly Trends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3616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Created vs. completed chart per week/month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5257800"/>
            <a:ext cx="54864" cy="82296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52578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53E3E"/>
                </a:solidFill>
              </a:rPr>
              <a:t>Productivity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5596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Identify most productive days and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</a:rPr>
              <a:t>📤 Export as CSV or PDF available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4864" cy="38404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Team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B0FF"/>
                </a:solidFill>
              </a:rPr>
              <a:t>Shared workspaces with roles, comments, and real-time sync</a:t>
            </a:r>
          </a:p>
        </p:txBody>
      </p:sp>
      <p:pic>
        <p:nvPicPr>
          <p:cNvPr id="5" name="Picture 4" descr="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7863840" cy="50292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412480" y="1664208"/>
            <a:ext cx="256032" cy="256032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90FF"/>
                </a:solidFill>
              </a:rPr>
              <a:t>Team Workspaces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85623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Create shared boards and invite members via email</a:t>
            </a:r>
          </a:p>
        </p:txBody>
      </p:sp>
      <p:sp>
        <p:nvSpPr>
          <p:cNvPr id="9" name="Oval 8"/>
          <p:cNvSpPr/>
          <p:nvPr/>
        </p:nvSpPr>
        <p:spPr>
          <a:xfrm>
            <a:off x="8412480" y="2670048"/>
            <a:ext cx="256032" cy="256032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2560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8BB78"/>
                </a:solidFill>
              </a:rPr>
              <a:t>Role-Based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86207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Admin / Editor / Viewer roles per workspace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0" y="3675888"/>
            <a:ext cx="256032" cy="256032"/>
          </a:xfrm>
          <a:prstGeom prst="ellipse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3566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6AD55"/>
                </a:solidFill>
              </a:rPr>
              <a:t>@Mentions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86791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Comment on tasks with @mention notifications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0" y="4681728"/>
            <a:ext cx="256032" cy="256032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53E3E"/>
                </a:solidFill>
              </a:rPr>
              <a:t>Real-Time Sync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487375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Changes instantly visible to all team members</a:t>
            </a:r>
          </a:p>
        </p:txBody>
      </p:sp>
      <p:sp>
        <p:nvSpPr>
          <p:cNvPr id="18" name="Oval 17"/>
          <p:cNvSpPr/>
          <p:nvPr/>
        </p:nvSpPr>
        <p:spPr>
          <a:xfrm>
            <a:off x="8412480" y="5687568"/>
            <a:ext cx="256032" cy="256032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5577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90FF"/>
                </a:solidFill>
              </a:rPr>
              <a:t>Activity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587959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Full audit log of task and workspace changes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4864" cy="38404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Development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B0FF"/>
                </a:solidFill>
              </a:rPr>
              <a:t>Agile sprints, CI/CD pipeline, and collaborative tooling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554480"/>
            <a:ext cx="2194560" cy="4114800"/>
          </a:xfrm>
          <a:prstGeom prst="rect">
            <a:avLst/>
          </a:prstGeom>
          <a:solidFill>
            <a:srgbClr val="14273D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2194560" cy="6400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91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90FF"/>
                </a:solidFill>
              </a:rPr>
              <a:t>Phase 1
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468880"/>
            <a:ext cx="2011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Requirements gathering, SRS, wireframes, tech selection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542032" y="3520440"/>
            <a:ext cx="82296" cy="18288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51760" y="1554480"/>
            <a:ext cx="2194560" cy="4114800"/>
          </a:xfrm>
          <a:prstGeom prst="rect">
            <a:avLst/>
          </a:prstGeom>
          <a:solidFill>
            <a:srgbClr val="14273D"/>
          </a:solidFill>
          <a:ln w="2540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1760" y="1554480"/>
            <a:ext cx="2194560" cy="64008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691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8BB78"/>
                </a:solidFill>
              </a:rPr>
              <a:t>Phase 2
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468880"/>
            <a:ext cx="2011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UI/UX design canvas, component library, data modelling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73752" y="3520440"/>
            <a:ext cx="82296" cy="18288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3480" y="1554480"/>
            <a:ext cx="2194560" cy="4114800"/>
          </a:xfrm>
          <a:prstGeom prst="rect">
            <a:avLst/>
          </a:prstGeom>
          <a:solidFill>
            <a:srgbClr val="14273D"/>
          </a:solidFill>
          <a:ln w="25400"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1554480"/>
            <a:ext cx="2194560" cy="64008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1691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6AD55"/>
                </a:solidFill>
              </a:rPr>
              <a:t>Phase 3
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468880"/>
            <a:ext cx="2011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MERN stack implementation, AI integration, unit testing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5472" y="3520440"/>
            <a:ext cx="82296" cy="18288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554480"/>
            <a:ext cx="2194560" cy="4114800"/>
          </a:xfrm>
          <a:prstGeom prst="rect">
            <a:avLst/>
          </a:prstGeom>
          <a:solidFill>
            <a:srgbClr val="14273D"/>
          </a:solidFill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0" y="1554480"/>
            <a:ext cx="2194560" cy="64008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1691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53E3E"/>
                </a:solidFill>
              </a:rPr>
              <a:t>Phase 4
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468880"/>
            <a:ext cx="2011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Integration tests, user acceptance testing, performance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37192" y="3520440"/>
            <a:ext cx="82296" cy="18288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46920" y="1554480"/>
            <a:ext cx="2194560" cy="4114800"/>
          </a:xfrm>
          <a:prstGeom prst="rect">
            <a:avLst/>
          </a:prstGeom>
          <a:solidFill>
            <a:srgbClr val="14273D"/>
          </a:solidFill>
          <a:ln w="25400">
            <a:solidFill>
              <a:srgbClr val="4A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6920" y="1554480"/>
            <a:ext cx="2194560" cy="64008"/>
          </a:xfrm>
          <a:prstGeom prst="rect">
            <a:avLst/>
          </a:prstGeom>
          <a:solidFill>
            <a:srgbClr val="4A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38360" y="1691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B0FF"/>
                </a:solidFill>
              </a:rPr>
              <a:t>Phase 5
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2468880"/>
            <a:ext cx="2011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CI/CD pipeline, cloud hosting, monitoring &amp; alerting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4864" cy="38404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Challenges Faced &amp; How We Solved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2286000" cy="36576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AI API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4630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</a:rPr>
              <a:t>Problem: Third-party Claude API downtime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82880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Solution: Implemented fallback mode with rule-based classification + response caching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697480"/>
            <a:ext cx="2286000" cy="36576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Real-Time 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6974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</a:rPr>
              <a:t>Problem: Concurrent edits causing data conflicts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06324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Solution: Used Socket.io with optimistic UI updates and server-side conflict resolution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931920"/>
            <a:ext cx="2286000" cy="36576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Mobile Responsiveness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931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</a:rPr>
              <a:t>Problem: Complex 2×2 board layout on small screens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429768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Solution: Adaptive layout switching board to single-column scroll view on mobile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166360"/>
            <a:ext cx="2286000" cy="36576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51663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</a:rPr>
              <a:t>Problem: Large task lists slowing board rendering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553212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Solution: Virtual scrolling, pagination, and indexed MongoDB queries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4864" cy="38404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Future Improvements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2743200" cy="4389120"/>
          </a:xfrm>
          <a:prstGeom prst="rect">
            <a:avLst/>
          </a:prstGeom>
          <a:solidFill>
            <a:srgbClr val="14273D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2743200" cy="6400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914400" cy="34747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Q2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Native iOS &amp; Android mobile apps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Offline mode with local-first sync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508760"/>
            <a:ext cx="2743200" cy="4389120"/>
          </a:xfrm>
          <a:prstGeom prst="rect">
            <a:avLst/>
          </a:prstGeom>
          <a:solidFill>
            <a:srgbClr val="14273D"/>
          </a:solidFill>
          <a:ln w="1905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6120" y="1508760"/>
            <a:ext cx="2743200" cy="64008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600200"/>
            <a:ext cx="914400" cy="347472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Q3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10312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Slack &amp; Microsoft Teams deep integration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AI weekly digest and proactive suggestions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508760"/>
            <a:ext cx="2743200" cy="4389120"/>
          </a:xfrm>
          <a:prstGeom prst="rect">
            <a:avLst/>
          </a:prstGeom>
          <a:solidFill>
            <a:srgbClr val="14273D"/>
          </a:solidFill>
          <a:ln w="19050"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508760"/>
            <a:ext cx="2743200" cy="64008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00200"/>
            <a:ext cx="914400" cy="347472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Q4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10312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Time-tracking per task and quadrant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Organization-level multi-team management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1508760"/>
            <a:ext cx="2743200" cy="4389120"/>
          </a:xfrm>
          <a:prstGeom prst="rect">
            <a:avLst/>
          </a:prstGeom>
          <a:solidFill>
            <a:srgbClr val="14273D"/>
          </a:solidFill>
          <a:ln w="1905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06840" y="1508760"/>
            <a:ext cx="2743200" cy="64008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600200"/>
            <a:ext cx="914400" cy="34747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2027+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10312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Enterprise SSO and audit compliance (SOC 2)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Marketplace for third-party task integrations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54864" cy="38404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Oval 3"/>
          <p:cNvSpPr/>
          <p:nvPr/>
        </p:nvSpPr>
        <p:spPr>
          <a:xfrm>
            <a:off x="365760" y="1554480"/>
            <a:ext cx="365760" cy="365760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8BB78"/>
                </a:solidFill>
              </a:rPr>
              <a:t>Objectives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</a:rPr>
              <a:t>Delivered a full MERN stack web app with Eisenhower Matrix, AI integration, team features, and analytics.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2788920"/>
            <a:ext cx="365760" cy="36576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90FF"/>
                </a:solidFill>
              </a:rPr>
              <a:t>Technical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4495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</a:rPr>
              <a:t>Gained hands-on experience with React, Node.js, MongoDB, REST APIs, WebSockets, and LLM integration.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4023360"/>
            <a:ext cx="365760" cy="365760"/>
          </a:xfrm>
          <a:prstGeom prst="ellipse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6AD55"/>
                </a:solidFill>
              </a:rPr>
              <a:t>Real-World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7939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</a:rPr>
              <a:t>TaskMatrix addresses genuine productivity challenges with a scalable, accessible, and intelligent solution.</a:t>
            </a:r>
          </a:p>
        </p:txBody>
      </p:sp>
      <p:sp>
        <p:nvSpPr>
          <p:cNvPr id="13" name="Oval 12"/>
          <p:cNvSpPr/>
          <p:nvPr/>
        </p:nvSpPr>
        <p:spPr>
          <a:xfrm>
            <a:off x="365760" y="5257800"/>
            <a:ext cx="365760" cy="365760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66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3E3E"/>
                </a:solidFill>
              </a:rPr>
              <a:t>Team Collaboration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1383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</a:rPr>
              <a:t>Agile workflow, GitHub version control, and shared ownership drove successful delivery across all team members.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88952" cy="36576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4AB0FF"/>
                </a:solidFill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0AEC0"/>
                </a:solidFill>
              </a:rPr>
              <a:t>TaskMatrix  ·  Group 3  ·  MERN Stack + AI Suggestions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303520"/>
            <a:ext cx="2560320" cy="34747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Q1 · Do 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5303520"/>
            <a:ext cx="2560320" cy="34747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Q2 · Schedule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5303520"/>
            <a:ext cx="2560320" cy="347472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Q3 · Delegate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303520"/>
            <a:ext cx="2560320" cy="347472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Q4 · Eliminate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