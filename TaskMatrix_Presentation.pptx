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4114800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228600" cy="411480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TaskMatrix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63B3FF"/>
                </a:solidFill>
                <a:latin typeface="Calibri"/>
              </a:rPr>
              <a:t>Task Prioritization Web Application Using Eisenhower Matrix and AI Suggestions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29000"/>
            <a:ext cx="5486400" cy="2743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400">
                <a:solidFill>
                  <a:srgbClr val="B0C4DE"/>
                </a:solidFill>
                <a:latin typeface="Calibri"/>
              </a:rPr>
              <a:t>Group 3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400">
                <a:solidFill>
                  <a:srgbClr val="B0C4DE"/>
                </a:solidFill>
                <a:latin typeface="Calibri"/>
              </a:rPr>
              <a:t>Fatima Bashir Haruna – 20230836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400">
                <a:solidFill>
                  <a:srgbClr val="B0C4DE"/>
                </a:solidFill>
                <a:latin typeface="Calibri"/>
              </a:rPr>
              <a:t>Muhammad Tijjani – 20231017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400">
                <a:solidFill>
                  <a:srgbClr val="B0C4DE"/>
                </a:solidFill>
                <a:latin typeface="Calibri"/>
              </a:rPr>
              <a:t>Maryam Salihu Mohammed – 20230648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400">
                <a:solidFill>
                  <a:srgbClr val="B0C4DE"/>
                </a:solidFill>
                <a:latin typeface="Calibri"/>
              </a:rPr>
              <a:t>Mufida Yahaya Usman – 20230843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029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4DE"/>
                </a:solidFill>
                <a:latin typeface="Calibri"/>
              </a:rPr>
              <a:t>Web Application Development  |  SEN 302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949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  <a:latin typeface="Calibri"/>
              </a:rPr>
              <a:t>Dept. of Software Engineering  |  Faculty of Computing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75520" y="1645920"/>
            <a:ext cx="640080" cy="64008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88752" y="1645920"/>
            <a:ext cx="640080" cy="6400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875520" y="2359152"/>
            <a:ext cx="640080" cy="64008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88752" y="2359152"/>
            <a:ext cx="640080" cy="640080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1247120" cy="2743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Information overload — students and professionals face an overwhelming volume of tasks daily with no simple way to prioritize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Existing apps overwhelm users with features while offering little guidance on what to tackle first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Users routinely confuse urgent tasks with important ones — leading to burnout and missed deadlines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Teams lack lightweight tools for shared task ownership without heavyweight platforms like Jira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No feedback loop — users cannot see their own productivity patterns or completion trends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852160"/>
            <a:ext cx="11064240" cy="640080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8978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1">
                <a:solidFill>
                  <a:srgbClr val="FFD700"/>
                </a:solidFill>
                <a:latin typeface="Calibri"/>
              </a:rPr>
              <a:t>Result: Productivity stalls, deadlines slip, and important work gets buried under urgent-but-trivial noise.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Proposed Solution — TaskMatrix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1247120" cy="2743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5394960" cy="749808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164592" cy="7498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572768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90FF"/>
                </a:solidFill>
                <a:latin typeface="Calibri"/>
              </a:rPr>
              <a:t>Eisenhower Matrix 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874520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Forces every task into one of four quadrants so priorities are always visible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508760"/>
            <a:ext cx="5394960" cy="749808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508760"/>
            <a:ext cx="164592" cy="7498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572768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90FF"/>
                </a:solidFill>
                <a:latin typeface="Calibri"/>
              </a:rPr>
              <a:t>AI-Powered Suggestions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1874520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Claude AI reads each task and recommends the correct quadrant, warns on misclassification, and generates subtasks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423160"/>
            <a:ext cx="5394960" cy="749808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423160"/>
            <a:ext cx="164592" cy="7498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2487168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90FF"/>
                </a:solidFill>
                <a:latin typeface="Calibri"/>
              </a:rPr>
              <a:t>Visual Organization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788920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Drag-and-drop board with colour-coded quadrants for instant visual priority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2423160"/>
            <a:ext cx="5394960" cy="749808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2423160"/>
            <a:ext cx="164592" cy="7498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487168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90FF"/>
                </a:solidFill>
                <a:latin typeface="Calibri"/>
              </a:rPr>
              <a:t>Analytics 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788920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Tracks completion rate, overdue tasks, and productivity trends over 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337560"/>
            <a:ext cx="5394960" cy="749808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37560"/>
            <a:ext cx="164592" cy="7498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401568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90FF"/>
                </a:solidFill>
                <a:latin typeface="Calibri"/>
              </a:rPr>
              <a:t>Team Collaboration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3703320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Invite members by email, assign roles, and share task ownership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3337560"/>
            <a:ext cx="5394960" cy="749808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3337560"/>
            <a:ext cx="164592" cy="7498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82512" y="3401568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90FF"/>
                </a:solidFill>
                <a:latin typeface="Calibri"/>
              </a:rPr>
              <a:t>Notification 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3703320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Overdue alerts so nothing slips through the cracks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Project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1247120" cy="2743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411480" cy="41148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4533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5087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Develop a responsive, full-stack MERN web application deployable to cloud hosting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67128"/>
            <a:ext cx="411480" cy="41148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203704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671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Implement the Eisenhower Matrix as a drag-and-drop task board with four colour-coded quadrants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25496"/>
            <a:ext cx="411480" cy="41148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862072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825496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Integrate Claude AI for automated quadrant suggestions, misclassification warnings, and subtask generation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83864"/>
            <a:ext cx="411480" cy="41148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52044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483864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Provide secure authentication with JWT, bcrypt hashing, and account lockout after 5 failed attempts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42232"/>
            <a:ext cx="411480" cy="41148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178808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1422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Deliver real-time analytics so users can measure and improve their personal productivity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00600"/>
            <a:ext cx="411480" cy="41148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3717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8006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Support team collaboration — invite members, assign roles, and share task ownership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458968"/>
            <a:ext cx="411480" cy="41148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495544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45896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Achieve high usability: fully keyboard-accessible, SPA navigation, and dark-mode first UI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Feature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1247120" cy="2743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508760"/>
            <a:ext cx="5577840" cy="749808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508760"/>
            <a:ext cx="182880" cy="7498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5230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  <a:latin typeface="Calibri"/>
              </a:rPr>
              <a:t>Authentication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56232"/>
            <a:ext cx="5230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Register/login with JWT (30-day), account lockout, password reset 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508760"/>
            <a:ext cx="5577840" cy="749808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508760"/>
            <a:ext cx="182880" cy="7498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72768"/>
            <a:ext cx="5230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  <a:latin typeface="Calibri"/>
              </a:rPr>
              <a:t>Eisenhower Matrix 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56232"/>
            <a:ext cx="5230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Four-quadrant drag-and-drop; tasks snap between Q1–Q4 with colour coding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95728"/>
            <a:ext cx="5577840" cy="749808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2395728"/>
            <a:ext cx="182880" cy="7498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59736"/>
            <a:ext cx="5230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  <a:latin typeface="Calibri"/>
              </a:rPr>
              <a:t>AI Suggestions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43200"/>
            <a:ext cx="5230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Claude AI recommends correct quadrant, flags misclassification, generates subtasks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395728"/>
            <a:ext cx="5577840" cy="749808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2395728"/>
            <a:ext cx="182880" cy="7498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459736"/>
            <a:ext cx="5230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  <a:latin typeface="Calibri"/>
              </a:rPr>
              <a:t>Analytics 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43200"/>
            <a:ext cx="5230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Completion rate, task stats, overdue tracking, productivity trends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282696"/>
            <a:ext cx="5577840" cy="749808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282696"/>
            <a:ext cx="182880" cy="7498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346704"/>
            <a:ext cx="5230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  <a:latin typeface="Calibri"/>
              </a:rPr>
              <a:t>Notifications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630168"/>
            <a:ext cx="5230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In-app alerts for overdue tasks; extensible to web-push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282696"/>
            <a:ext cx="5577840" cy="749808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3282696"/>
            <a:ext cx="182880" cy="7498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346704"/>
            <a:ext cx="5230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  <a:latin typeface="Calibri"/>
              </a:rPr>
              <a:t>Team Collaboration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630168"/>
            <a:ext cx="5230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Invite by email, assign roles (viewer/editor/admin), shared task ownership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169664"/>
            <a:ext cx="5577840" cy="749808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169664"/>
            <a:ext cx="182880" cy="7498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233672"/>
            <a:ext cx="5230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  <a:latin typeface="Calibri"/>
              </a:rPr>
              <a:t>Integrations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517136"/>
            <a:ext cx="5230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Anthropic Claude API for AI; MongoDB Atlas for cloud DB; Render + Vercel deploy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169664"/>
            <a:ext cx="5577840" cy="749808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7920" y="4169664"/>
            <a:ext cx="182880" cy="7498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4233672"/>
            <a:ext cx="5230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  <a:latin typeface="Calibri"/>
              </a:rPr>
              <a:t>Responsive UI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4517136"/>
            <a:ext cx="5230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Dark-mode first design; CSS custom properties; keyboard accessible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E90FF"/>
                </a:solidFill>
                <a:latin typeface="Calibri"/>
              </a:rPr>
              <a:t>Three-Tier MERN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743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2560320" cy="3200400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2560320" cy="10972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6420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  <a:latin typeface="Calibri"/>
              </a:rPr>
              <a:t>Presentation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574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React + Vite SPA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487168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Served on port 5173 (dev) or static host (prod). Single-page app with React Router, AuthContext &amp; TaskContext.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508760"/>
            <a:ext cx="2560320" cy="3200400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0" y="1508760"/>
            <a:ext cx="2560320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166420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Application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0574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Node.js + Express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487168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REST API on port 5000. Handles authentication, task CRUD, AI endpoints. JWT middleware protects all task routes.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1508760"/>
            <a:ext cx="2560320" cy="3200400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508760"/>
            <a:ext cx="2560320" cy="109728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80760" y="166420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C46A"/>
                </a:solidFill>
                <a:latin typeface="Calibri"/>
              </a:rPr>
              <a:t>Data Layer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20574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MongoDB (Mongoose)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487168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taskmatrix database. User &amp; Task models with per-owner query isolation. Indexes on email &amp; owner fields.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0" y="1508760"/>
            <a:ext cx="2560320" cy="3200400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86800" y="1508760"/>
            <a:ext cx="2560320" cy="10972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23960" y="166420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3946"/>
                </a:solidFill>
                <a:latin typeface="Calibri"/>
              </a:rPr>
              <a:t>AI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60" y="20574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Anthropic Claude 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2487168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In-memory cached responses (5 min TTL, 500-entry limit). Suggests quadrant, warns on misclassification, generates subtasks.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35808" y="283464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E90FF"/>
                </a:solidFill>
                <a:latin typeface="Calibri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79008" y="283464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E90FF"/>
                </a:solidFill>
                <a:latin typeface="Calibri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2208" y="283464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E90FF"/>
                </a:solidFill>
                <a:latin typeface="Calibri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0C4DE"/>
                </a:solidFill>
                <a:latin typeface="Calibri"/>
              </a:rPr>
              <a:t>Vite Proxy → rewrites /api calls to localhost:5000 in development | CORS restricted to CLIENT_URL in production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1247120" cy="2743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3566160" cy="1810512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3566160" cy="10972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90FF"/>
                </a:solidFill>
                <a:latin typeface="Calibri"/>
              </a:rP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84248"/>
            <a:ext cx="3337560" cy="1307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React 18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Vite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React Router v6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CSS Custom Properties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508760"/>
            <a:ext cx="3566160" cy="1810512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1960" y="1508760"/>
            <a:ext cx="3566160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64592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Calibri"/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1984248"/>
            <a:ext cx="3337560" cy="1307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Node.js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Express 4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JWT (jsonwebtoken)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bcryptjs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508760"/>
            <a:ext cx="3566160" cy="1408176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508760"/>
            <a:ext cx="3566160" cy="109728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164592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9C46A"/>
                </a:solidFill>
                <a:latin typeface="Calibri"/>
              </a:rPr>
              <a:t>Database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1984248"/>
            <a:ext cx="3337560" cy="90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MongoDB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Mongoose 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96412"/>
            <a:ext cx="3566160" cy="1408176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296412"/>
            <a:ext cx="3566160" cy="10972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43357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3946"/>
                </a:solidFill>
                <a:latin typeface="Calibri"/>
              </a:rPr>
              <a:t>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771900"/>
            <a:ext cx="3337560" cy="90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Anthropic Claude API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In-memory cache (5 min TTL)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3296412"/>
            <a:ext cx="3566160" cy="2011680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51960" y="3296412"/>
            <a:ext cx="3566160" cy="109728"/>
          </a:xfrm>
          <a:prstGeom prst="rect">
            <a:avLst/>
          </a:prstGeom>
          <a:solidFill>
            <a:srgbClr val="63B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343357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3B3FF"/>
                </a:solidFill>
                <a:latin typeface="Calibri"/>
              </a:rPr>
              <a:t>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3771900"/>
            <a:ext cx="3337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GitHub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VS Code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Postman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Claude AI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Nodemon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3296412"/>
            <a:ext cx="3566160" cy="1609344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3296412"/>
            <a:ext cx="3566160" cy="109728"/>
          </a:xfrm>
          <a:prstGeom prst="rect">
            <a:avLst/>
          </a:prstGeom>
          <a:solidFill>
            <a:srgbClr val="B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83880" y="343357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060FF"/>
                </a:solidFill>
                <a:latin typeface="Calibri"/>
              </a:rPr>
              <a:t>Deploy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80" y="3771900"/>
            <a:ext cx="3337560" cy="1106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Render (backend)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Vercel (frontend)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MongoDB Atlas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The Eisenhower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E90FF"/>
                </a:solidFill>
                <a:latin typeface="Calibri"/>
              </a:rPr>
              <a:t>A proven time-management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743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63946"/>
                </a:solidFill>
                <a:latin typeface="Calibri"/>
              </a:rPr>
              <a:t>URGENT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5087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A9D8F"/>
                </a:solidFill>
                <a:latin typeface="Calibri"/>
              </a:rPr>
              <a:t>NOT URGENT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2103120"/>
            <a:ext cx="1005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IMPORTANT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" y="4206240"/>
            <a:ext cx="1051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0C4DE"/>
                </a:solidFill>
                <a:latin typeface="Calibri"/>
              </a:rPr>
              <a:t>NOT IMPORTANT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80160" y="1920240"/>
            <a:ext cx="5120640" cy="21031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80160" y="1920240"/>
            <a:ext cx="5120640" cy="41148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196596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Q1 — DO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37744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• Urgent + Important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• Handle immediately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• Crises, deadlines, emergencies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• e.g. Exam tomorrow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0" y="1920240"/>
            <a:ext cx="5120640" cy="21031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66560" y="1920240"/>
            <a:ext cx="5120640" cy="41148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196596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Q2 — SCHEDULE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37744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• Not Urgent + Important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• Plan and schedule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• Long-term goals, development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• e.g. Learn new skill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389120"/>
            <a:ext cx="5120640" cy="210312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80160" y="4389120"/>
            <a:ext cx="5120640" cy="41148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3484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Q3 — DELEGATE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84632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• Urgent + Not Important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• Hand off to others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• Interruptions, minor requests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• e.g. Reply to some emails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4389120"/>
            <a:ext cx="5120640" cy="2103120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4389120"/>
            <a:ext cx="5120640" cy="411480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443484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Q4 — ELIMINATE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484632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• Not Urgent + Not Important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• Drop or defer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• Time-wasters, distractions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• e.g. Mindless browsing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AI Suggestion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E90FF"/>
                </a:solidFill>
                <a:latin typeface="Calibri"/>
              </a:rPr>
              <a:t>Powered by Anthropic Claude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743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28800"/>
            <a:ext cx="2011680" cy="1645920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828800"/>
            <a:ext cx="2011680" cy="9144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1874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E90FF"/>
                </a:solidFill>
                <a:latin typeface="Calibri"/>
              </a:rPr>
              <a:t>User
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487168"/>
            <a:ext cx="1874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C4DE"/>
                </a:solidFill>
                <a:latin typeface="Calibri"/>
              </a:rPr>
              <a:t>Task title &amp;
notes entered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246888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90FF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79192" y="1828800"/>
            <a:ext cx="2011680" cy="1645920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79192" y="1828800"/>
            <a:ext cx="2011680" cy="9144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965960"/>
            <a:ext cx="1874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A9D8F"/>
                </a:solidFill>
                <a:latin typeface="Calibri"/>
              </a:rPr>
              <a:t>AI
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2487168"/>
            <a:ext cx="1874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C4DE"/>
                </a:solidFill>
                <a:latin typeface="Calibri"/>
              </a:rPr>
              <a:t>Claude reads &amp;
evaluates urgency/
importance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246888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90FF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46904" y="1828800"/>
            <a:ext cx="2011680" cy="1645920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46904" y="1828800"/>
            <a:ext cx="2011680" cy="9144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38344" y="1965960"/>
            <a:ext cx="1874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A9D8F"/>
                </a:solidFill>
                <a:latin typeface="Calibri"/>
              </a:rPr>
              <a:t>Suggestion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38344" y="2487168"/>
            <a:ext cx="1874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C4DE"/>
                </a:solidFill>
                <a:latin typeface="Calibri"/>
              </a:rPr>
              <a:t>Recommends
quadrant + priority
+ subtasks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76872" y="246888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90FF"/>
                </a:solidFill>
                <a:latin typeface="Calibr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14616" y="1828800"/>
            <a:ext cx="2011680" cy="1645920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14616" y="1828800"/>
            <a:ext cx="2011680" cy="9144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06056" y="1965960"/>
            <a:ext cx="1874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9C46A"/>
                </a:solidFill>
                <a:latin typeface="Calibri"/>
              </a:rPr>
              <a:t>Warning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06056" y="2487168"/>
            <a:ext cx="1874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C4DE"/>
                </a:solidFill>
                <a:latin typeface="Calibri"/>
              </a:rPr>
              <a:t>Flags potential
misclassification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4584" y="246888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E90FF"/>
                </a:solidFill>
                <a:latin typeface="Calibr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82328" y="1828800"/>
            <a:ext cx="2011680" cy="1645920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82328" y="1828800"/>
            <a:ext cx="2011680" cy="91440"/>
          </a:xfrm>
          <a:prstGeom prst="rect">
            <a:avLst/>
          </a:prstGeom>
          <a:solidFill>
            <a:srgbClr val="63B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73768" y="1965960"/>
            <a:ext cx="1874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3B3FF"/>
                </a:solidFill>
                <a:latin typeface="Calibri"/>
              </a:rPr>
              <a:t>Confirmation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73768" y="2487168"/>
            <a:ext cx="1874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0C4DE"/>
                </a:solidFill>
                <a:latin typeface="Calibri"/>
              </a:rPr>
              <a:t>User accepts
or overrides
suggestion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84048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Quadrant suggestion — Claude reads task title &amp; notes, recommends Q1–Q4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Misclassification warning — alerts user if chosen quadrant may be wrong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Subtask generation — breaks complex tasks into actionable checklists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In-memory caching — 5-minute TTL, 500-entry limit to reduce API calls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User Interface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E90FF"/>
                </a:solidFill>
                <a:latin typeface="Calibri"/>
              </a:rPr>
              <a:t>Dark-mode first responsive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743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90FF"/>
                </a:solidFill>
                <a:latin typeface="Calibri"/>
              </a:rPr>
              <a:t>App Screenshots</a:t>
            </a:r>
          </a:p>
        </p:txBody>
      </p:sp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4974174" cy="4389120"/>
          </a:xfrm>
          <a:prstGeom prst="rect">
            <a:avLst/>
          </a:prstGeom>
        </p:spPr>
      </p:pic>
      <p:pic>
        <p:nvPicPr>
          <p:cNvPr id="8" name="Picture 7" descr="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28800"/>
            <a:ext cx="4038564" cy="2560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09360" y="1463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90FF"/>
                </a:solidFill>
                <a:latin typeface="Calibri"/>
              </a:rPr>
              <a:t>UI Highlights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52628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Fixed 232px sidebar + scrollable content area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Four colour-coded quadrant columns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Sticky topbar with search &amp; notifications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Drag-and-drop task cards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Keyboard accessible (tabIndex, onKeyDown)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Analytics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E90FF"/>
                </a:solidFill>
                <a:latin typeface="Calibri"/>
              </a:rPr>
              <a:t>Data-driven productivity insights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743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4581961" cy="5029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0" y="1554480"/>
            <a:ext cx="5394960" cy="713232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554480"/>
            <a:ext cx="164592" cy="71323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60934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  <a:latin typeface="Calibri"/>
              </a:rPr>
              <a:t>Completion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90195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Tracks % of tasks completed vs created per period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395728"/>
            <a:ext cx="5394960" cy="713232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2395728"/>
            <a:ext cx="164592" cy="71323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24505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  <a:latin typeface="Calibri"/>
              </a:rPr>
              <a:t>Overdue Tracking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743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Highlights tasks past due date with prominent alerts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236976"/>
            <a:ext cx="5394960" cy="713232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3236976"/>
            <a:ext cx="164592" cy="71323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2918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  <a:latin typeface="Calibri"/>
              </a:rPr>
              <a:t>Task Statistics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58444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Count of tasks per quadrant, per status, per time range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078224"/>
            <a:ext cx="5394960" cy="713232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4078224"/>
            <a:ext cx="164592" cy="71323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413308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  <a:latin typeface="Calibri"/>
              </a:rPr>
              <a:t>Productivity Trends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42569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Historical charts help users see improvement over time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919472"/>
            <a:ext cx="5394960" cy="713232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4919472"/>
            <a:ext cx="164592" cy="71323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497433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  <a:latin typeface="Calibri"/>
              </a:rPr>
              <a:t>Per-User Isolation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52669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  <a:latin typeface="Calibri"/>
              </a:rPr>
              <a:t>Each user sees only their own data — strict DB-level filtering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Development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E90FF"/>
                </a:solidFill>
                <a:latin typeface="Calibri"/>
              </a:rPr>
              <a:t>Agile-influenced iterative SDLC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743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645920"/>
            <a:ext cx="1508760" cy="3474720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645920"/>
            <a:ext cx="1508760" cy="10972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1810512"/>
            <a:ext cx="502920" cy="50292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95728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90FF"/>
                </a:solidFill>
                <a:latin typeface="Calibri"/>
              </a:rPr>
              <a:t>Requirements
Gathering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127248"/>
            <a:ext cx="1371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  <a:latin typeface="Calibri"/>
              </a:rPr>
              <a:t>SRS document + UI design files; iterative user feedback sessions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1645920"/>
            <a:ext cx="1508760" cy="3474720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11680" y="1645920"/>
            <a:ext cx="1508760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14600" y="1810512"/>
            <a:ext cx="502920" cy="5029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14600" y="18288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395728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A9D8F"/>
                </a:solidFill>
                <a:latin typeface="Calibri"/>
              </a:rPr>
              <a:t>System &amp;
UI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127248"/>
            <a:ext cx="1371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  <a:latin typeface="Calibri"/>
              </a:rPr>
              <a:t>Three-tier architecture, Mongoose data model, API contract, CSS design system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1645920"/>
            <a:ext cx="1508760" cy="3474720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11880" y="1645920"/>
            <a:ext cx="1508760" cy="109728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0" y="1810512"/>
            <a:ext cx="502920" cy="50292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0" y="18288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2395728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9C46A"/>
                </a:solidFill>
                <a:latin typeface="Calibri"/>
              </a:rPr>
              <a:t>Project
Setup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3127248"/>
            <a:ext cx="1371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  <a:latin typeface="Calibri"/>
              </a:rPr>
              <a:t>MERN scaffold, dependency install, environment variables, Vite proxy config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12080" y="1645920"/>
            <a:ext cx="1508760" cy="3474720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212080" y="1645920"/>
            <a:ext cx="1508760" cy="10972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715000" y="1810512"/>
            <a:ext cx="502920" cy="50292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15000" y="18288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2395728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63946"/>
                </a:solidFill>
                <a:latin typeface="Calibri"/>
              </a:rPr>
              <a:t>Backend
Development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0" y="3127248"/>
            <a:ext cx="1371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  <a:latin typeface="Calibri"/>
              </a:rPr>
              <a:t>Express API, MongoDB models, JWT auth, bcrypt, AI endpoints, error handling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12280" y="1645920"/>
            <a:ext cx="1508760" cy="3474720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12280" y="1645920"/>
            <a:ext cx="1508760" cy="109728"/>
          </a:xfrm>
          <a:prstGeom prst="rect">
            <a:avLst/>
          </a:prstGeom>
          <a:solidFill>
            <a:srgbClr val="63B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15200" y="1810512"/>
            <a:ext cx="502920" cy="502920"/>
          </a:xfrm>
          <a:prstGeom prst="rect">
            <a:avLst/>
          </a:prstGeom>
          <a:solidFill>
            <a:srgbClr val="63B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0" y="18288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2395728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63B3FF"/>
                </a:solidFill>
                <a:latin typeface="Calibri"/>
              </a:rPr>
              <a:t>Frontend
Development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3127248"/>
            <a:ext cx="1371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  <a:latin typeface="Calibri"/>
              </a:rPr>
              <a:t>React pages, context providers, components, CSS, drag-and-drop board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12480" y="1645920"/>
            <a:ext cx="1508760" cy="3474720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12480" y="1645920"/>
            <a:ext cx="1508760" cy="109728"/>
          </a:xfrm>
          <a:prstGeom prst="rect">
            <a:avLst/>
          </a:prstGeom>
          <a:solidFill>
            <a:srgbClr val="B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15400" y="1810512"/>
            <a:ext cx="502920" cy="502920"/>
          </a:xfrm>
          <a:prstGeom prst="rect">
            <a:avLst/>
          </a:prstGeom>
          <a:solidFill>
            <a:srgbClr val="B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15400" y="18288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2395728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060FF"/>
                </a:solidFill>
                <a:latin typeface="Calibri"/>
              </a:rPr>
              <a:t>Debug &amp;
Iterate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3127248"/>
            <a:ext cx="1371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  <a:latin typeface="Calibri"/>
              </a:rPr>
              <a:t>14+ distinct bugs resolved across DB connectivity, auth, UI isolation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12680" y="1645920"/>
            <a:ext cx="1508760" cy="3474720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12680" y="1645920"/>
            <a:ext cx="1508760" cy="109728"/>
          </a:xfrm>
          <a:prstGeom prst="rect">
            <a:avLst/>
          </a:prstGeom>
          <a:solidFill>
            <a:srgbClr val="FF7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515600" y="1810512"/>
            <a:ext cx="502920" cy="502920"/>
          </a:xfrm>
          <a:prstGeom prst="rect">
            <a:avLst/>
          </a:prstGeom>
          <a:solidFill>
            <a:srgbClr val="FF7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5600" y="18288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04120" y="2395728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7F50"/>
                </a:solidFill>
                <a:latin typeface="Calibri"/>
              </a:rPr>
              <a:t>Deployment
Prep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120" y="3127248"/>
            <a:ext cx="1371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  <a:latin typeface="Calibri"/>
              </a:rPr>
              <a:t>Build pipeline, Render + Vercel config, MongoDB Atlas, CORS setup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Challenges Faced &amp; How We Solved Them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1247120" cy="2743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5394960" cy="749808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164592" cy="7498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563624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B3FF"/>
                </a:solidFill>
                <a:latin typeface="Calibri"/>
              </a:rPr>
              <a:t>Dependency Conflicts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874520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Vite not recognized; resolved with npm install --legacy-peer-deps to bypass peer dep checks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508760"/>
            <a:ext cx="5394960" cy="749808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508760"/>
            <a:ext cx="164592" cy="7498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1563624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B3FF"/>
                </a:solidFill>
                <a:latin typeface="Calibri"/>
              </a:rPr>
              <a:t>Auth Bypass Bug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1874520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App loaded directly to board without login; fixed RequireAuth guard in React Router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95728"/>
            <a:ext cx="5394960" cy="749808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395728"/>
            <a:ext cx="164592" cy="7498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2450592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B3FF"/>
                </a:solidFill>
                <a:latin typeface="Calibri"/>
              </a:rPr>
              <a:t>Password Pre-save Hook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761488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login() used user.save() triggering bcrypt re-hash; replaced with User.findByIdAndUpdate()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395728"/>
            <a:ext cx="5394960" cy="749808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2395728"/>
            <a:ext cx="164592" cy="7498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450592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B3FF"/>
                </a:solidFill>
                <a:latin typeface="Calibri"/>
              </a:rPr>
              <a:t>Google OAuth Failure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2761488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OAuth credentials unavailable; removed OAuth button; implemented token-based flow 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82696"/>
            <a:ext cx="5394960" cy="749808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282696"/>
            <a:ext cx="164592" cy="7498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337560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B3FF"/>
                </a:solidFill>
                <a:latin typeface="Calibri"/>
              </a:rPr>
              <a:t>Guest/User Data Bleed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3648456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Guest users could see registered account tasks; added strict owner: req.user._id DB filter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282696"/>
            <a:ext cx="5394960" cy="749808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3282696"/>
            <a:ext cx="164592" cy="7498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3337560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B3FF"/>
                </a:solidFill>
                <a:latin typeface="Calibri"/>
              </a:rPr>
              <a:t>Deployment Auth Failure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3648456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Could not pass login after deployment; CORS CLIENT_URL env var misconfiguration fixed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4169664"/>
            <a:ext cx="5394960" cy="749808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83280" y="4169664"/>
            <a:ext cx="164592" cy="74980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39312" y="4224528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B3FF"/>
                </a:solidFill>
                <a:latin typeface="Calibri"/>
              </a:rPr>
              <a:t>AI Cache Overhead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39312" y="4535424"/>
            <a:ext cx="5074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Repeated AI calls slowed response; implemented in-memory LRU cache with 5-min TTL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Future Improvements &amp;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1247120" cy="27432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5394960" cy="713232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164592" cy="71323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0" y="1645920"/>
            <a:ext cx="749808" cy="25603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645920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56362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Email Delivery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874520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Integrate SendGrid / Resend to email password-reset links instead of returning raw tokens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508760"/>
            <a:ext cx="5394960" cy="713232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508760"/>
            <a:ext cx="164592" cy="71323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789920" y="1645920"/>
            <a:ext cx="749808" cy="256032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0" y="1645920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156362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Real-time Updates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1874520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Add Socket.io so team members see task changes live without page refresh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359152"/>
            <a:ext cx="5394960" cy="713232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359152"/>
            <a:ext cx="164592" cy="7132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0" y="2496312"/>
            <a:ext cx="749808" cy="2560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2496312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2414016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Push Notifications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2724912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Web Push API for overdue task alerts even when the app is closed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359152"/>
            <a:ext cx="5394960" cy="713232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2359152"/>
            <a:ext cx="164592" cy="7132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789920" y="2496312"/>
            <a:ext cx="749808" cy="2560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0" y="2496312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2414016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Full-text 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2724912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MongoDB text index on task titles and notes for fast keyword search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209544"/>
            <a:ext cx="5394960" cy="713232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209544"/>
            <a:ext cx="164592" cy="7132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0" y="3346704"/>
            <a:ext cx="749808" cy="2560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0" y="3346704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3264408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Mobile App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3575304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React Native version sharing the same Express backend API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3209544"/>
            <a:ext cx="5394960" cy="713232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3209544"/>
            <a:ext cx="164592" cy="713232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789920" y="3346704"/>
            <a:ext cx="749808" cy="256032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789920" y="3346704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73952" y="3264408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Recurring Tasks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73952" y="3575304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Tasks that automatically re-create themselves on a configurable schedule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383280" y="4059936"/>
            <a:ext cx="5394960" cy="713232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383280" y="4059936"/>
            <a:ext cx="164592" cy="713232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55280" y="4197096"/>
            <a:ext cx="749808" cy="256032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55280" y="4197096"/>
            <a:ext cx="749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39312" y="411480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Calendar Sync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39312" y="4425696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Export task due dates to Google Calendar or iCal format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114800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320040" cy="411480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9144000" cy="36576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749807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Full-stack MERN web application deployed and fully functional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Eisenhower Matrix board with drag-and-drop and colour-coded quadrants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Claude AI integration for quadrant suggestion, warnings, and subtask generation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Secure JWT authentication with bcrypt, account lockout, and password reset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Real analytics dashboard, team collaboration, and per-user data isolation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14+ production bugs identified and resolved through iterative debugging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0" y="2011680"/>
            <a:ext cx="3657600" cy="25603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0" y="2011680"/>
            <a:ext cx="3657600" cy="9144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21488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90FF"/>
                </a:solidFill>
                <a:latin typeface="Calibri"/>
              </a:rPr>
              <a:t>Learning Outcomes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51460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>
                <a:solidFill>
                  <a:srgbClr val="B0C4DE"/>
                </a:solidFill>
                <a:latin typeface="Calibri"/>
              </a:rPr>
              <a:t>• Agile iterative development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>
                <a:solidFill>
                  <a:srgbClr val="B0C4DE"/>
                </a:solidFill>
                <a:latin typeface="Calibri"/>
              </a:rPr>
              <a:t>• Full-stack API design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>
                <a:solidFill>
                  <a:srgbClr val="B0C4DE"/>
                </a:solidFill>
                <a:latin typeface="Calibri"/>
              </a:rPr>
              <a:t>• AI API integration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>
                <a:solidFill>
                  <a:srgbClr val="B0C4DE"/>
                </a:solidFill>
                <a:latin typeface="Calibri"/>
              </a:rPr>
              <a:t>• Cloud deployment pipeline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200">
                <a:solidFill>
                  <a:srgbClr val="B0C4DE"/>
                </a:solidFill>
                <a:latin typeface="Calibri"/>
              </a:rPr>
              <a:t>• Debugging real-world bugs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0060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1">
                <a:solidFill>
                  <a:srgbClr val="FFD700"/>
                </a:solidFill>
                <a:latin typeface="Calibri"/>
              </a:rPr>
              <a:t>TaskMatrix demonstrates that a lightweight, AI-enhanced tool can significantly improve how individuals and teams manage their time and priorities.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0"/>
            <a:ext cx="12188952" cy="2834640"/>
          </a:xfrm>
          <a:prstGeom prst="rect">
            <a:avLst/>
          </a:prstGeom>
          <a:solidFill>
            <a:srgbClr val="1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11680"/>
            <a:ext cx="320040" cy="2834640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E90FF"/>
                </a:solidFill>
                <a:latin typeface="Calibri"/>
              </a:rPr>
              <a:t>Questions &amp; Answers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794760"/>
            <a:ext cx="5486400" cy="36576"/>
          </a:xfrm>
          <a:prstGeom prst="rect">
            <a:avLst/>
          </a:prstGeom>
          <a:solidFill>
            <a:srgbClr val="1E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0C4DE"/>
                </a:solidFill>
                <a:latin typeface="Calibri"/>
              </a:rPr>
              <a:t>Group 3 — TaskMatrix  |  SEN 302 Web Application Development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0" y="4846320"/>
            <a:ext cx="777240" cy="77724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195560" y="4846320"/>
            <a:ext cx="777240" cy="77724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326880" y="5715000"/>
            <a:ext cx="777240" cy="77724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95560" y="5715000"/>
            <a:ext cx="777240" cy="777240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